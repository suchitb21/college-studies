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56" r:id="rId2"/>
    <p:sldId id="311" r:id="rId3"/>
    <p:sldId id="312" r:id="rId4"/>
    <p:sldId id="259" r:id="rId5"/>
    <p:sldId id="261" r:id="rId6"/>
    <p:sldId id="293" r:id="rId7"/>
    <p:sldId id="262" r:id="rId8"/>
    <p:sldId id="294" r:id="rId9"/>
    <p:sldId id="295" r:id="rId10"/>
    <p:sldId id="296" r:id="rId11"/>
    <p:sldId id="263" r:id="rId12"/>
    <p:sldId id="315" r:id="rId13"/>
    <p:sldId id="316" r:id="rId14"/>
    <p:sldId id="321" r:id="rId15"/>
    <p:sldId id="332" r:id="rId16"/>
    <p:sldId id="333" r:id="rId17"/>
    <p:sldId id="336" r:id="rId18"/>
    <p:sldId id="337" r:id="rId19"/>
    <p:sldId id="353" r:id="rId20"/>
    <p:sldId id="354" r:id="rId21"/>
    <p:sldId id="338" r:id="rId22"/>
    <p:sldId id="339" r:id="rId23"/>
    <p:sldId id="345" r:id="rId24"/>
    <p:sldId id="351" r:id="rId25"/>
    <p:sldId id="352" r:id="rId26"/>
    <p:sldId id="347" r:id="rId27"/>
    <p:sldId id="355" r:id="rId28"/>
    <p:sldId id="356" r:id="rId29"/>
    <p:sldId id="357" r:id="rId30"/>
    <p:sldId id="348" r:id="rId31"/>
    <p:sldId id="320" r:id="rId32"/>
    <p:sldId id="324" r:id="rId33"/>
    <p:sldId id="313" r:id="rId34"/>
    <p:sldId id="358" r:id="rId35"/>
    <p:sldId id="280" r:id="rId36"/>
    <p:sldId id="281" r:id="rId37"/>
    <p:sldId id="282" r:id="rId38"/>
    <p:sldId id="350" r:id="rId39"/>
    <p:sldId id="284" r:id="rId40"/>
    <p:sldId id="285" r:id="rId41"/>
    <p:sldId id="330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8806" autoAdjust="0"/>
  </p:normalViewPr>
  <p:slideViewPr>
    <p:cSldViewPr>
      <p:cViewPr varScale="1">
        <p:scale>
          <a:sx n="62" d="100"/>
          <a:sy n="62" d="100"/>
        </p:scale>
        <p:origin x="-1596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2" y="1103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F28266-7221-4B1E-8F99-8F92C2AB6420}" type="datetimeFigureOut">
              <a:rPr lang="en-US" smtClean="0"/>
              <a:pPr/>
              <a:t>16/02/2021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2DDC3-33E6-44D8-8EA1-DC8F450DED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8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66AF1AD-2E29-4735-B1AD-5B9ACD3F57A4}" type="slidenum">
              <a:rPr lang="en-GB"/>
              <a:pPr/>
              <a:t>5</a:t>
            </a:fld>
            <a:endParaRPr lang="en-GB"/>
          </a:p>
        </p:txBody>
      </p:sp>
      <p:sp>
        <p:nvSpPr>
          <p:cNvPr id="27649" name="Text Box 1"/>
          <p:cNvSpPr txBox="1">
            <a:spLocks noChangeArrowheads="1"/>
          </p:cNvSpPr>
          <p:nvPr/>
        </p:nvSpPr>
        <p:spPr bwMode="auto">
          <a:xfrm>
            <a:off x="3881439" y="8686512"/>
            <a:ext cx="2972360" cy="45604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b"/>
          <a:lstStyle/>
          <a:p>
            <a:pPr algn="r">
              <a:lnSpc>
                <a:spcPct val="116000"/>
              </a:lnSpc>
              <a:buSzPct val="45000"/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</a:pPr>
            <a:fld id="{DA0FAD7C-E8FF-4852-92C1-61C8F07E3A70}" type="slidenum">
              <a:rPr lang="en-GB" sz="1300">
                <a:solidFill>
                  <a:srgbClr val="000000"/>
                </a:solidFill>
                <a:latin typeface="Times New Roman" pitchFamily="18" charset="0"/>
              </a:rPr>
              <a:pPr algn="r">
                <a:lnSpc>
                  <a:spcPct val="116000"/>
                </a:lnSpc>
                <a:buSzPct val="45000"/>
                <a:tabLst>
                  <a:tab pos="0" algn="l"/>
                  <a:tab pos="410291" algn="l"/>
                  <a:tab pos="820583" algn="l"/>
                  <a:tab pos="1230874" algn="l"/>
                  <a:tab pos="1641165" algn="l"/>
                  <a:tab pos="2051456" algn="l"/>
                  <a:tab pos="2461748" algn="l"/>
                  <a:tab pos="2872039" algn="l"/>
                  <a:tab pos="3282330" algn="l"/>
                  <a:tab pos="3692622" algn="l"/>
                  <a:tab pos="4102913" algn="l"/>
                  <a:tab pos="4513204" algn="l"/>
                  <a:tab pos="4923495" algn="l"/>
                  <a:tab pos="5333787" algn="l"/>
                  <a:tab pos="5744078" algn="l"/>
                  <a:tab pos="6154369" algn="l"/>
                  <a:tab pos="6564660" algn="l"/>
                  <a:tab pos="6974952" algn="l"/>
                  <a:tab pos="7385243" algn="l"/>
                  <a:tab pos="7795534" algn="l"/>
                  <a:tab pos="8205826" algn="l"/>
                </a:tabLst>
              </a:pPr>
              <a:t>5</a:t>
            </a:fld>
            <a:endParaRPr lang="en-GB" sz="13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210236" y="694171"/>
            <a:ext cx="4437529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2058" tIns="41029" rIns="82058" bIns="41029" anchor="ctr"/>
          <a:lstStyle/>
          <a:p>
            <a:endParaRPr lang="en-US"/>
          </a:p>
        </p:txBody>
      </p:sp>
      <p:sp>
        <p:nvSpPr>
          <p:cNvPr id="27651" name="Rectangle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6361" y="4342535"/>
            <a:ext cx="5483879" cy="4114511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E247DAB-45A9-4DDF-AC6E-10267166E031}" type="slidenum">
              <a:rPr lang="en-GB"/>
              <a:pPr/>
              <a:t>7</a:t>
            </a:fld>
            <a:endParaRPr lang="en-GB"/>
          </a:p>
        </p:txBody>
      </p:sp>
      <p:sp>
        <p:nvSpPr>
          <p:cNvPr id="28673" name="Text Box 1"/>
          <p:cNvSpPr txBox="1">
            <a:spLocks noChangeArrowheads="1"/>
          </p:cNvSpPr>
          <p:nvPr/>
        </p:nvSpPr>
        <p:spPr bwMode="auto">
          <a:xfrm>
            <a:off x="3881439" y="8686512"/>
            <a:ext cx="2972360" cy="45604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b"/>
          <a:lstStyle/>
          <a:p>
            <a:pPr algn="r">
              <a:lnSpc>
                <a:spcPct val="116000"/>
              </a:lnSpc>
              <a:buSzPct val="45000"/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</a:pPr>
            <a:fld id="{B66EA293-4527-41DC-89B7-2B5614F30A9D}" type="slidenum">
              <a:rPr lang="en-GB" sz="1300">
                <a:solidFill>
                  <a:srgbClr val="000000"/>
                </a:solidFill>
                <a:latin typeface="Times New Roman" pitchFamily="18" charset="0"/>
              </a:rPr>
              <a:pPr algn="r">
                <a:lnSpc>
                  <a:spcPct val="116000"/>
                </a:lnSpc>
                <a:buSzPct val="45000"/>
                <a:tabLst>
                  <a:tab pos="0" algn="l"/>
                  <a:tab pos="410291" algn="l"/>
                  <a:tab pos="820583" algn="l"/>
                  <a:tab pos="1230874" algn="l"/>
                  <a:tab pos="1641165" algn="l"/>
                  <a:tab pos="2051456" algn="l"/>
                  <a:tab pos="2461748" algn="l"/>
                  <a:tab pos="2872039" algn="l"/>
                  <a:tab pos="3282330" algn="l"/>
                  <a:tab pos="3692622" algn="l"/>
                  <a:tab pos="4102913" algn="l"/>
                  <a:tab pos="4513204" algn="l"/>
                  <a:tab pos="4923495" algn="l"/>
                  <a:tab pos="5333787" algn="l"/>
                  <a:tab pos="5744078" algn="l"/>
                  <a:tab pos="6154369" algn="l"/>
                  <a:tab pos="6564660" algn="l"/>
                  <a:tab pos="6974952" algn="l"/>
                  <a:tab pos="7385243" algn="l"/>
                  <a:tab pos="7795534" algn="l"/>
                  <a:tab pos="8205826" algn="l"/>
                </a:tabLst>
              </a:pPr>
              <a:t>7</a:t>
            </a:fld>
            <a:endParaRPr lang="en-GB" sz="13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1210236" y="694171"/>
            <a:ext cx="4437529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2058" tIns="41029" rIns="82058" bIns="41029" anchor="ctr"/>
          <a:lstStyle/>
          <a:p>
            <a:endParaRPr lang="en-US"/>
          </a:p>
        </p:txBody>
      </p:sp>
      <p:sp>
        <p:nvSpPr>
          <p:cNvPr id="28675" name="Rectangle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6361" y="4342535"/>
            <a:ext cx="5483879" cy="4114511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A2DDC3-33E6-44D8-8EA1-DC8F450DED26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6446C38-E9A4-43DD-B25F-E2F2BD165273}" type="slidenum">
              <a:rPr lang="en-GB"/>
              <a:pPr/>
              <a:t>11</a:t>
            </a:fld>
            <a:endParaRPr lang="en-GB"/>
          </a:p>
        </p:txBody>
      </p:sp>
      <p:sp>
        <p:nvSpPr>
          <p:cNvPr id="29697" name="Text Box 1"/>
          <p:cNvSpPr txBox="1">
            <a:spLocks noChangeArrowheads="1"/>
          </p:cNvSpPr>
          <p:nvPr/>
        </p:nvSpPr>
        <p:spPr bwMode="auto">
          <a:xfrm>
            <a:off x="3881439" y="8686512"/>
            <a:ext cx="2972360" cy="45604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b"/>
          <a:lstStyle/>
          <a:p>
            <a:pPr algn="r">
              <a:lnSpc>
                <a:spcPct val="116000"/>
              </a:lnSpc>
              <a:buSzPct val="45000"/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</a:pPr>
            <a:fld id="{929AED68-D05F-4248-ABF6-3D6C96A652AA}" type="slidenum">
              <a:rPr lang="en-GB" sz="1300">
                <a:solidFill>
                  <a:srgbClr val="000000"/>
                </a:solidFill>
                <a:latin typeface="Times New Roman" pitchFamily="18" charset="0"/>
              </a:rPr>
              <a:pPr algn="r">
                <a:lnSpc>
                  <a:spcPct val="116000"/>
                </a:lnSpc>
                <a:buSzPct val="45000"/>
                <a:tabLst>
                  <a:tab pos="0" algn="l"/>
                  <a:tab pos="410291" algn="l"/>
                  <a:tab pos="820583" algn="l"/>
                  <a:tab pos="1230874" algn="l"/>
                  <a:tab pos="1641165" algn="l"/>
                  <a:tab pos="2051456" algn="l"/>
                  <a:tab pos="2461748" algn="l"/>
                  <a:tab pos="2872039" algn="l"/>
                  <a:tab pos="3282330" algn="l"/>
                  <a:tab pos="3692622" algn="l"/>
                  <a:tab pos="4102913" algn="l"/>
                  <a:tab pos="4513204" algn="l"/>
                  <a:tab pos="4923495" algn="l"/>
                  <a:tab pos="5333787" algn="l"/>
                  <a:tab pos="5744078" algn="l"/>
                  <a:tab pos="6154369" algn="l"/>
                  <a:tab pos="6564660" algn="l"/>
                  <a:tab pos="6974952" algn="l"/>
                  <a:tab pos="7385243" algn="l"/>
                  <a:tab pos="7795534" algn="l"/>
                  <a:tab pos="8205826" algn="l"/>
                </a:tabLst>
              </a:pPr>
              <a:t>11</a:t>
            </a:fld>
            <a:endParaRPr lang="en-GB" sz="13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1210236" y="694171"/>
            <a:ext cx="4437529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2058" tIns="41029" rIns="82058" bIns="41029" anchor="ctr"/>
          <a:lstStyle/>
          <a:p>
            <a:endParaRPr lang="en-US"/>
          </a:p>
        </p:txBody>
      </p:sp>
      <p:sp>
        <p:nvSpPr>
          <p:cNvPr id="29699" name="Rectangle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6361" y="4342535"/>
            <a:ext cx="5483879" cy="4114511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2972098" cy="456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66" tIns="45684" rIns="91366" bIns="45684"/>
          <a:lstStyle/>
          <a:p>
            <a:pPr defTabSz="911482"/>
            <a:r>
              <a:rPr lang="en-US" sz="1200" dirty="0"/>
              <a:t>The C Shell</a:t>
            </a:r>
          </a:p>
        </p:txBody>
      </p:sp>
      <p:sp>
        <p:nvSpPr>
          <p:cNvPr id="82947" name="Rectangle 6"/>
          <p:cNvSpPr txBox="1">
            <a:spLocks noGrp="1" noChangeArrowheads="1"/>
          </p:cNvSpPr>
          <p:nvPr/>
        </p:nvSpPr>
        <p:spPr bwMode="auto">
          <a:xfrm>
            <a:off x="0" y="8687405"/>
            <a:ext cx="2972098" cy="456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66" tIns="45684" rIns="91366" bIns="45684" anchor="b"/>
          <a:lstStyle/>
          <a:p>
            <a:pPr defTabSz="911482"/>
            <a:r>
              <a:rPr lang="en-US" sz="1200" dirty="0"/>
              <a:t>Copyright Department of Computer Science, Northern Illinois University, 2005</a:t>
            </a:r>
          </a:p>
        </p:txBody>
      </p:sp>
      <p:sp>
        <p:nvSpPr>
          <p:cNvPr id="82948" name="Rectangle 7"/>
          <p:cNvSpPr txBox="1">
            <a:spLocks noGrp="1" noChangeArrowheads="1"/>
          </p:cNvSpPr>
          <p:nvPr/>
        </p:nvSpPr>
        <p:spPr bwMode="auto">
          <a:xfrm>
            <a:off x="3885903" y="8687405"/>
            <a:ext cx="2972097" cy="456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66" tIns="45684" rIns="91366" bIns="45684" anchor="b"/>
          <a:lstStyle/>
          <a:p>
            <a:pPr algn="r" defTabSz="911482"/>
            <a:fld id="{D5882FCA-A593-4906-9A38-7A6B525004D5}" type="slidenum">
              <a:rPr lang="en-US" sz="1200"/>
              <a:pPr algn="r" defTabSz="911482"/>
              <a:t>12</a:t>
            </a:fld>
            <a:endParaRPr lang="en-US" sz="1200" dirty="0"/>
          </a:p>
        </p:txBody>
      </p:sp>
      <p:sp>
        <p:nvSpPr>
          <p:cNvPr id="829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805" y="4343704"/>
            <a:ext cx="5030391" cy="4113892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366" tIns="45684" rIns="91366" bIns="45684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2972098" cy="456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66" tIns="45684" rIns="91366" bIns="45684"/>
          <a:lstStyle/>
          <a:p>
            <a:pPr defTabSz="911482"/>
            <a:r>
              <a:rPr lang="en-US" sz="1200" dirty="0"/>
              <a:t>The C Shell</a:t>
            </a:r>
          </a:p>
        </p:txBody>
      </p:sp>
      <p:sp>
        <p:nvSpPr>
          <p:cNvPr id="84995" name="Rectangle 6"/>
          <p:cNvSpPr txBox="1">
            <a:spLocks noGrp="1" noChangeArrowheads="1"/>
          </p:cNvSpPr>
          <p:nvPr/>
        </p:nvSpPr>
        <p:spPr bwMode="auto">
          <a:xfrm>
            <a:off x="0" y="8687405"/>
            <a:ext cx="2972098" cy="456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66" tIns="45684" rIns="91366" bIns="45684" anchor="b"/>
          <a:lstStyle/>
          <a:p>
            <a:pPr defTabSz="911482"/>
            <a:r>
              <a:rPr lang="en-US" sz="1200" dirty="0"/>
              <a:t>Copyright Department of Computer Science, Northern Illinois University, 2005</a:t>
            </a:r>
          </a:p>
        </p:txBody>
      </p:sp>
      <p:sp>
        <p:nvSpPr>
          <p:cNvPr id="84996" name="Rectangle 7"/>
          <p:cNvSpPr txBox="1">
            <a:spLocks noGrp="1" noChangeArrowheads="1"/>
          </p:cNvSpPr>
          <p:nvPr/>
        </p:nvSpPr>
        <p:spPr bwMode="auto">
          <a:xfrm>
            <a:off x="3885903" y="8687405"/>
            <a:ext cx="2972097" cy="456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66" tIns="45684" rIns="91366" bIns="45684" anchor="b"/>
          <a:lstStyle/>
          <a:p>
            <a:pPr algn="r" defTabSz="911482"/>
            <a:fld id="{2A1B45B1-AE60-4010-BA53-0E1DCE59C44C}" type="slidenum">
              <a:rPr lang="en-US" sz="1200"/>
              <a:pPr algn="r" defTabSz="911482"/>
              <a:t>13</a:t>
            </a:fld>
            <a:endParaRPr lang="en-US" sz="1200" dirty="0"/>
          </a:p>
        </p:txBody>
      </p:sp>
      <p:sp>
        <p:nvSpPr>
          <p:cNvPr id="849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805" y="4343704"/>
            <a:ext cx="5030391" cy="4113892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366" tIns="45684" rIns="91366" bIns="45684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84B2242-5CDE-49F3-88EE-C0E314949EC1}" type="slidenum">
              <a:rPr lang="en-GB"/>
              <a:pPr/>
              <a:t>20</a:t>
            </a:fld>
            <a:endParaRPr lang="en-GB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1439" y="8686512"/>
            <a:ext cx="2972360" cy="45604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b"/>
          <a:lstStyle/>
          <a:p>
            <a:pPr algn="r">
              <a:lnSpc>
                <a:spcPct val="116000"/>
              </a:lnSpc>
              <a:buSzPct val="45000"/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</a:pPr>
            <a:fld id="{843D7664-81DA-4F77-A205-D0533EC283C6}" type="slidenum">
              <a:rPr lang="en-GB" sz="1300">
                <a:solidFill>
                  <a:srgbClr val="000000"/>
                </a:solidFill>
                <a:latin typeface="Times New Roman" pitchFamily="18" charset="0"/>
              </a:rPr>
              <a:pPr algn="r">
                <a:lnSpc>
                  <a:spcPct val="116000"/>
                </a:lnSpc>
                <a:buSzPct val="45000"/>
                <a:tabLst>
                  <a:tab pos="0" algn="l"/>
                  <a:tab pos="410291" algn="l"/>
                  <a:tab pos="820583" algn="l"/>
                  <a:tab pos="1230874" algn="l"/>
                  <a:tab pos="1641165" algn="l"/>
                  <a:tab pos="2051456" algn="l"/>
                  <a:tab pos="2461748" algn="l"/>
                  <a:tab pos="2872039" algn="l"/>
                  <a:tab pos="3282330" algn="l"/>
                  <a:tab pos="3692622" algn="l"/>
                  <a:tab pos="4102913" algn="l"/>
                  <a:tab pos="4513204" algn="l"/>
                  <a:tab pos="4923495" algn="l"/>
                  <a:tab pos="5333787" algn="l"/>
                  <a:tab pos="5744078" algn="l"/>
                  <a:tab pos="6154369" algn="l"/>
                  <a:tab pos="6564660" algn="l"/>
                  <a:tab pos="6974952" algn="l"/>
                  <a:tab pos="7385243" algn="l"/>
                  <a:tab pos="7795534" algn="l"/>
                  <a:tab pos="8205826" algn="l"/>
                </a:tabLst>
              </a:pPr>
              <a:t>20</a:t>
            </a:fld>
            <a:endParaRPr lang="en-GB" sz="13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1210236" y="694171"/>
            <a:ext cx="4437529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2058" tIns="41029" rIns="82058" bIns="41029" anchor="ctr"/>
          <a:lstStyle/>
          <a:p>
            <a:endParaRPr lang="en-US"/>
          </a:p>
        </p:txBody>
      </p:sp>
      <p:sp>
        <p:nvSpPr>
          <p:cNvPr id="34819" name="Rectangle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6361" y="4342535"/>
            <a:ext cx="5483879" cy="4114511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2B6838B-1E76-446F-9CEE-D24A61464BF3}" type="slidenum">
              <a:rPr lang="en-GB"/>
              <a:pPr/>
              <a:t>27</a:t>
            </a:fld>
            <a:endParaRPr lang="en-GB"/>
          </a:p>
        </p:txBody>
      </p:sp>
      <p:sp>
        <p:nvSpPr>
          <p:cNvPr id="43009" name="Text Box 1"/>
          <p:cNvSpPr txBox="1">
            <a:spLocks noChangeArrowheads="1"/>
          </p:cNvSpPr>
          <p:nvPr/>
        </p:nvSpPr>
        <p:spPr bwMode="auto">
          <a:xfrm>
            <a:off x="3881439" y="8686512"/>
            <a:ext cx="2972360" cy="45604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b"/>
          <a:lstStyle/>
          <a:p>
            <a:pPr algn="r">
              <a:lnSpc>
                <a:spcPct val="116000"/>
              </a:lnSpc>
              <a:buSzPct val="45000"/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</a:pPr>
            <a:fld id="{AA937E88-606D-4D2E-90B4-A7F3DAC7FC6F}" type="slidenum">
              <a:rPr lang="en-GB" sz="1300">
                <a:solidFill>
                  <a:srgbClr val="000000"/>
                </a:solidFill>
                <a:latin typeface="Times New Roman" pitchFamily="18" charset="0"/>
              </a:rPr>
              <a:pPr algn="r">
                <a:lnSpc>
                  <a:spcPct val="116000"/>
                </a:lnSpc>
                <a:buSzPct val="45000"/>
                <a:tabLst>
                  <a:tab pos="0" algn="l"/>
                  <a:tab pos="410291" algn="l"/>
                  <a:tab pos="820583" algn="l"/>
                  <a:tab pos="1230874" algn="l"/>
                  <a:tab pos="1641165" algn="l"/>
                  <a:tab pos="2051456" algn="l"/>
                  <a:tab pos="2461748" algn="l"/>
                  <a:tab pos="2872039" algn="l"/>
                  <a:tab pos="3282330" algn="l"/>
                  <a:tab pos="3692622" algn="l"/>
                  <a:tab pos="4102913" algn="l"/>
                  <a:tab pos="4513204" algn="l"/>
                  <a:tab pos="4923495" algn="l"/>
                  <a:tab pos="5333787" algn="l"/>
                  <a:tab pos="5744078" algn="l"/>
                  <a:tab pos="6154369" algn="l"/>
                  <a:tab pos="6564660" algn="l"/>
                  <a:tab pos="6974952" algn="l"/>
                  <a:tab pos="7385243" algn="l"/>
                  <a:tab pos="7795534" algn="l"/>
                  <a:tab pos="8205826" algn="l"/>
                </a:tabLst>
              </a:pPr>
              <a:t>27</a:t>
            </a:fld>
            <a:endParaRPr lang="en-GB" sz="13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1210236" y="694171"/>
            <a:ext cx="4436129" cy="3427556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2058" tIns="41029" rIns="82058" bIns="41029" anchor="ctr"/>
          <a:lstStyle/>
          <a:p>
            <a:endParaRPr lang="en-US"/>
          </a:p>
        </p:txBody>
      </p:sp>
      <p:sp>
        <p:nvSpPr>
          <p:cNvPr id="43011" name="Rectangle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6361" y="4342535"/>
            <a:ext cx="5483879" cy="4114511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E94-9064-4C60-98C8-6C50806F84BB}" type="datetimeFigureOut">
              <a:rPr lang="en-US" smtClean="0"/>
              <a:pPr/>
              <a:t>16/02/2021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851AF8A-DD68-4031-8200-ED8A184E23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E94-9064-4C60-98C8-6C50806F84BB}" type="datetimeFigureOut">
              <a:rPr lang="en-US" smtClean="0"/>
              <a:pPr/>
              <a:t>16/02/2021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1AF8A-DD68-4031-8200-ED8A184E23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E94-9064-4C60-98C8-6C50806F84BB}" type="datetimeFigureOut">
              <a:rPr lang="en-US" smtClean="0"/>
              <a:pPr/>
              <a:t>16/02/2021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851AF8A-DD68-4031-8200-ED8A184E23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E94-9064-4C60-98C8-6C50806F84BB}" type="datetimeFigureOut">
              <a:rPr lang="en-US" smtClean="0"/>
              <a:pPr/>
              <a:t>16/02/2021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1AF8A-DD68-4031-8200-ED8A184E23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E94-9064-4C60-98C8-6C50806F84BB}" type="datetimeFigureOut">
              <a:rPr lang="en-US" smtClean="0"/>
              <a:pPr/>
              <a:t>16/02/2021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1AF8A-DD68-4031-8200-ED8A184E23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E94-9064-4C60-98C8-6C50806F84BB}" type="datetimeFigureOut">
              <a:rPr lang="en-US" smtClean="0"/>
              <a:pPr/>
              <a:t>16/02/2021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1AF8A-DD68-4031-8200-ED8A184E23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E94-9064-4C60-98C8-6C50806F84BB}" type="datetimeFigureOut">
              <a:rPr lang="en-US" smtClean="0"/>
              <a:pPr/>
              <a:t>16/02/2021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1AF8A-DD68-4031-8200-ED8A184E23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E94-9064-4C60-98C8-6C50806F84BB}" type="datetimeFigureOut">
              <a:rPr lang="en-US" smtClean="0"/>
              <a:pPr/>
              <a:t>16/02/2021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1AF8A-DD68-4031-8200-ED8A184E23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E94-9064-4C60-98C8-6C50806F84BB}" type="datetimeFigureOut">
              <a:rPr lang="en-US" smtClean="0"/>
              <a:pPr/>
              <a:t>16/02/2021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851AF8A-DD68-4031-8200-ED8A184E23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E94-9064-4C60-98C8-6C50806F84BB}" type="datetimeFigureOut">
              <a:rPr lang="en-US" smtClean="0"/>
              <a:pPr/>
              <a:t>16/02/2021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1AF8A-DD68-4031-8200-ED8A184E23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FE94-9064-4C60-98C8-6C50806F84BB}" type="datetimeFigureOut">
              <a:rPr lang="en-US" smtClean="0"/>
              <a:pPr/>
              <a:t>16/02/2021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1AF8A-DD68-4031-8200-ED8A184E23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3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/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38200" y="1219200"/>
            <a:ext cx="7772400" cy="4800600"/>
          </a:xfrm>
        </p:spPr>
        <p:txBody>
          <a:bodyPr>
            <a:normAutofit/>
          </a:bodyPr>
          <a:lstStyle/>
          <a:p>
            <a:pPr lvl="0"/>
            <a:endParaRPr lang="en-US" noProof="0" smtClean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CSCI 330 - The Unix System</a:t>
            </a: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AF278-D745-4308-9533-1CB7ADC492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873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B00FE94-9064-4C60-98C8-6C50806F84BB}" type="datetimeFigureOut">
              <a:rPr lang="en-US" smtClean="0"/>
              <a:pPr/>
              <a:t>16/02/2021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6851AF8A-DD68-4031-8200-ED8A184E23C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smtClean="0"/>
              <a:t>Shell Programming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7648" y="457200"/>
            <a:ext cx="7510552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What is Shell ?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676400"/>
            <a:ext cx="7772400" cy="4572000"/>
          </a:xfrm>
        </p:spPr>
        <p:txBody>
          <a:bodyPr/>
          <a:lstStyle/>
          <a:p>
            <a:r>
              <a:rPr lang="en-US" dirty="0" smtClean="0"/>
              <a:t>The Shell is an interface between User and Kernel.</a:t>
            </a:r>
          </a:p>
          <a:p>
            <a:r>
              <a:rPr lang="en-US" dirty="0" smtClean="0"/>
              <a:t>Shell accepts the commands from the user and converts them in language that Kernel understands</a:t>
            </a:r>
          </a:p>
          <a:p>
            <a:r>
              <a:rPr lang="en-US" dirty="0" smtClean="0"/>
              <a:t>Two major Rolls of Shell</a:t>
            </a:r>
          </a:p>
          <a:p>
            <a:pPr lvl="1"/>
            <a:r>
              <a:rPr lang="en-US" dirty="0" smtClean="0"/>
              <a:t>Interpreter: Reads the Commands, works with the Kernel to execute them</a:t>
            </a:r>
          </a:p>
          <a:p>
            <a:pPr lvl="1"/>
            <a:r>
              <a:rPr lang="en-US" dirty="0" smtClean="0"/>
              <a:t>Programming Capability: Shell Script is a file that contains shell commands to perform a specific task…Shell Program 	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What is a shell program?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Simply </a:t>
            </a:r>
            <a:r>
              <a:rPr lang="en-US" dirty="0"/>
              <a:t>put, a shell program (sometimes called a shell script) is a text file that contains standard </a:t>
            </a:r>
            <a:r>
              <a:rPr lang="en-US" dirty="0" smtClean="0"/>
              <a:t>UNIX </a:t>
            </a:r>
            <a:r>
              <a:rPr lang="en-US" dirty="0"/>
              <a:t>and shell commands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Each line in a shell program contains a single UNIX command exactly as if you had typed them in yourself</a:t>
            </a:r>
            <a:r>
              <a:rPr lang="en-US" dirty="0" smtClean="0"/>
              <a:t>.</a:t>
            </a:r>
          </a:p>
          <a:p>
            <a:r>
              <a:rPr lang="en-US" dirty="0" smtClean="0"/>
              <a:t>Shell </a:t>
            </a:r>
            <a:r>
              <a:rPr lang="en-US" dirty="0"/>
              <a:t>programs are interpreted and not compiled </a:t>
            </a:r>
            <a:r>
              <a:rPr lang="en-US" dirty="0" smtClean="0"/>
              <a:t>programs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ext Box 1"/>
          <p:cNvSpPr txBox="1">
            <a:spLocks noChangeArrowheads="1"/>
          </p:cNvSpPr>
          <p:nvPr/>
        </p:nvSpPr>
        <p:spPr bwMode="auto">
          <a:xfrm>
            <a:off x="1889280" y="414763"/>
            <a:ext cx="4953600" cy="370637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1639" tIns="40820" rIns="81639" bIns="40820">
            <a:spAutoFit/>
          </a:bodyPr>
          <a:lstStyle/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900" u="sng" dirty="0">
                <a:solidFill>
                  <a:srgbClr val="000000"/>
                </a:solidFill>
                <a:latin typeface="Times New Roman" pitchFamily="18" charset="0"/>
              </a:rPr>
              <a:t>Types of Shell 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GB" sz="2900" dirty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900" dirty="0">
                <a:solidFill>
                  <a:srgbClr val="000000"/>
                </a:solidFill>
                <a:latin typeface="Times New Roman" pitchFamily="18" charset="0"/>
              </a:rPr>
              <a:t>Bourne shell (</a:t>
            </a:r>
            <a:r>
              <a:rPr lang="en-GB" sz="2900" dirty="0" err="1">
                <a:solidFill>
                  <a:srgbClr val="000000"/>
                </a:solidFill>
                <a:latin typeface="Times New Roman" pitchFamily="18" charset="0"/>
              </a:rPr>
              <a:t>sh</a:t>
            </a:r>
            <a:r>
              <a:rPr lang="en-GB" sz="2900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900" dirty="0">
                <a:solidFill>
                  <a:srgbClr val="000000"/>
                </a:solidFill>
                <a:latin typeface="Times New Roman" pitchFamily="18" charset="0"/>
              </a:rPr>
              <a:t>C shell (</a:t>
            </a:r>
            <a:r>
              <a:rPr lang="en-GB" sz="2900" dirty="0" err="1">
                <a:solidFill>
                  <a:srgbClr val="000000"/>
                </a:solidFill>
                <a:latin typeface="Times New Roman" pitchFamily="18" charset="0"/>
              </a:rPr>
              <a:t>csh</a:t>
            </a:r>
            <a:r>
              <a:rPr lang="en-GB" sz="2900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900" dirty="0">
                <a:solidFill>
                  <a:srgbClr val="000000"/>
                </a:solidFill>
                <a:latin typeface="Times New Roman" pitchFamily="18" charset="0"/>
              </a:rPr>
              <a:t>TC shell (</a:t>
            </a:r>
            <a:r>
              <a:rPr lang="en-GB" sz="2900" dirty="0" err="1">
                <a:solidFill>
                  <a:srgbClr val="000000"/>
                </a:solidFill>
                <a:latin typeface="Times New Roman" pitchFamily="18" charset="0"/>
              </a:rPr>
              <a:t>tcsh</a:t>
            </a:r>
            <a:r>
              <a:rPr lang="en-GB" sz="2900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900" dirty="0" err="1">
                <a:solidFill>
                  <a:srgbClr val="000000"/>
                </a:solidFill>
                <a:latin typeface="Times New Roman" pitchFamily="18" charset="0"/>
              </a:rPr>
              <a:t>Korn</a:t>
            </a:r>
            <a:r>
              <a:rPr lang="en-GB" sz="2900" dirty="0">
                <a:solidFill>
                  <a:srgbClr val="000000"/>
                </a:solidFill>
                <a:latin typeface="Times New Roman" pitchFamily="18" charset="0"/>
              </a:rPr>
              <a:t> shell (</a:t>
            </a:r>
            <a:r>
              <a:rPr lang="en-GB" sz="2900" dirty="0" err="1">
                <a:solidFill>
                  <a:srgbClr val="000000"/>
                </a:solidFill>
                <a:latin typeface="Times New Roman" pitchFamily="18" charset="0"/>
              </a:rPr>
              <a:t>ksh</a:t>
            </a:r>
            <a:r>
              <a:rPr lang="en-GB" sz="2900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900" dirty="0">
                <a:solidFill>
                  <a:srgbClr val="000000"/>
                </a:solidFill>
                <a:latin typeface="Times New Roman" pitchFamily="18" charset="0"/>
              </a:rPr>
              <a:t>Bourne Again </a:t>
            </a:r>
            <a:r>
              <a:rPr lang="en-GB" sz="2900" dirty="0" err="1">
                <a:solidFill>
                  <a:srgbClr val="000000"/>
                </a:solidFill>
                <a:latin typeface="Times New Roman" pitchFamily="18" charset="0"/>
              </a:rPr>
              <a:t>SHell</a:t>
            </a:r>
            <a:r>
              <a:rPr lang="en-GB" sz="2900" dirty="0">
                <a:solidFill>
                  <a:srgbClr val="000000"/>
                </a:solidFill>
                <a:latin typeface="Times New Roman" pitchFamily="18" charset="0"/>
              </a:rPr>
              <a:t> (bash)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Bash shell programming</a:t>
            </a:r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109367C6-8E6F-427B-B577-2B5A9C7AD6F0}" type="slidenum">
              <a:rPr lang="en-US"/>
              <a:pPr/>
              <a:t>6</a:t>
            </a:fld>
            <a:endParaRPr lang="en-US"/>
          </a:p>
        </p:txBody>
      </p:sp>
      <p:sp>
        <p:nvSpPr>
          <p:cNvPr id="62467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 fontScale="92500" lnSpcReduction="10000"/>
          </a:bodyPr>
          <a:lstStyle/>
          <a:p>
            <a:pPr marL="274320" indent="-274320" fontAlgn="auto">
              <a:spcAft>
                <a:spcPts val="0"/>
              </a:spcAft>
              <a:buFont typeface="Wingdings"/>
              <a:buChar char=""/>
              <a:defRPr/>
            </a:pPr>
            <a:r>
              <a:rPr lang="en-US" dirty="0" smtClean="0"/>
              <a:t>Input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prompting user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command line arguments</a:t>
            </a:r>
          </a:p>
          <a:p>
            <a:pPr marL="274320" indent="-274320" fontAlgn="auto">
              <a:spcAft>
                <a:spcPts val="0"/>
              </a:spcAft>
              <a:buFont typeface="Wingdings"/>
              <a:buChar char=""/>
              <a:defRPr/>
            </a:pPr>
            <a:r>
              <a:rPr lang="en-US" dirty="0" smtClean="0"/>
              <a:t>Decision: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if-then-else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case</a:t>
            </a:r>
          </a:p>
          <a:p>
            <a:pPr marL="274320" indent="-274320" fontAlgn="auto">
              <a:spcAft>
                <a:spcPts val="0"/>
              </a:spcAft>
              <a:buFont typeface="Wingdings"/>
              <a:buChar char=""/>
              <a:defRPr/>
            </a:pPr>
            <a:r>
              <a:rPr lang="en-US" dirty="0" smtClean="0"/>
              <a:t>Repetition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do-while, repeat-until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for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select</a:t>
            </a:r>
          </a:p>
          <a:p>
            <a:pPr marL="274320" indent="-274320" fontAlgn="auto">
              <a:spcAft>
                <a:spcPts val="0"/>
              </a:spcAft>
              <a:buFont typeface="Wingdings"/>
              <a:buChar char=""/>
              <a:defRPr/>
            </a:pPr>
            <a:r>
              <a:rPr lang="en-US" dirty="0" smtClean="0"/>
              <a:t>Functions</a:t>
            </a:r>
          </a:p>
          <a:p>
            <a:pPr marL="274320" indent="-274320" fontAlgn="auto">
              <a:spcAft>
                <a:spcPts val="0"/>
              </a:spcAft>
              <a:buNone/>
              <a:defRPr/>
            </a:pPr>
            <a:r>
              <a:rPr lang="en-US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/>
          <p:cNvSpPr txBox="1">
            <a:spLocks noChangeArrowheads="1"/>
          </p:cNvSpPr>
          <p:nvPr/>
        </p:nvSpPr>
        <p:spPr bwMode="auto">
          <a:xfrm>
            <a:off x="1889280" y="2488581"/>
            <a:ext cx="4953600" cy="60014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1639" tIns="40820" rIns="81639" bIns="40820">
            <a:spAutoFit/>
          </a:bodyPr>
          <a:lstStyle/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900" dirty="0">
                <a:solidFill>
                  <a:srgbClr val="000000"/>
                </a:solidFill>
                <a:latin typeface="Times New Roman" pitchFamily="18" charset="0"/>
              </a:rPr>
              <a:t>Simple Shell Programs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/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This is a comment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echo "Hello World !!”</a:t>
            </a:r>
            <a:endParaRPr lang="en-US" sz="2600" dirty="0" smtClean="0"/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GB" sz="2800" b="1" dirty="0" smtClean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GB" sz="2800" b="1" dirty="0" smtClean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Times New Roman" pitchFamily="18" charset="0"/>
              </a:rPr>
              <a:t>Save it as :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Times New Roman" pitchFamily="18" charset="0"/>
              </a:rPr>
              <a:t>							</a:t>
            </a:r>
            <a:r>
              <a:rPr lang="en-GB" sz="2800" dirty="0" smtClean="0">
                <a:solidFill>
                  <a:srgbClr val="000000"/>
                </a:solidFill>
                <a:latin typeface="Times New Roman" pitchFamily="18" charset="0"/>
              </a:rPr>
              <a:t> Hello.sh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GB" sz="2800" dirty="0" smtClean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800" b="1" dirty="0" smtClean="0">
                <a:solidFill>
                  <a:srgbClr val="000000"/>
                </a:solidFill>
                <a:latin typeface="Times New Roman" pitchFamily="18" charset="0"/>
              </a:rPr>
              <a:t>Run on the prompt as :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800" dirty="0" smtClean="0">
                <a:solidFill>
                  <a:srgbClr val="000000"/>
                </a:solidFill>
                <a:latin typeface="Times New Roman" pitchFamily="18" charset="0"/>
              </a:rPr>
              <a:t>							</a:t>
            </a:r>
            <a:r>
              <a:rPr lang="en-GB" sz="2800" dirty="0" err="1" smtClean="0">
                <a:solidFill>
                  <a:srgbClr val="000000"/>
                </a:solidFill>
                <a:latin typeface="Times New Roman" pitchFamily="18" charset="0"/>
              </a:rPr>
              <a:t>sh</a:t>
            </a:r>
            <a:r>
              <a:rPr lang="en-GB" sz="2800" dirty="0" smtClean="0">
                <a:solidFill>
                  <a:srgbClr val="000000"/>
                </a:solidFill>
                <a:latin typeface="Times New Roman" pitchFamily="18" charset="0"/>
              </a:rPr>
              <a:t> Hello.sh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77724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/>
              <a:t>Taking input from User </a:t>
            </a:r>
            <a:r>
              <a:rPr lang="en-US" b="1" dirty="0" smtClean="0"/>
              <a:t>: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smtClean="0">
                <a:latin typeface="Century Schoolbook" pitchFamily="18" charset="0"/>
              </a:rPr>
              <a:t>shell allows to prompt for user input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u="sng" dirty="0" smtClean="0">
                <a:latin typeface="Century Schoolbook" pitchFamily="18" charset="0"/>
              </a:rPr>
              <a:t>Syntax:</a:t>
            </a:r>
          </a:p>
          <a:p>
            <a:pPr>
              <a:lnSpc>
                <a:spcPct val="90000"/>
              </a:lnSpc>
            </a:pPr>
            <a:endParaRPr lang="en-US" dirty="0" smtClean="0">
              <a:latin typeface="Century Schoolbook" pitchFamily="18" charset="0"/>
            </a:endParaRPr>
          </a:p>
          <a:p>
            <a:pPr lvl="1">
              <a:lnSpc>
                <a:spcPct val="90000"/>
              </a:lnSpc>
              <a:buFont typeface="Wingdings 2" pitchFamily="18" charset="2"/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read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varname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[more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vars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]</a:t>
            </a:r>
          </a:p>
          <a:p>
            <a:pPr lvl="1">
              <a:lnSpc>
                <a:spcPct val="90000"/>
              </a:lnSpc>
            </a:pPr>
            <a:endParaRPr lang="en-US" dirty="0" smtClean="0">
              <a:latin typeface="Century Schoolbook" pitchFamily="18" charset="0"/>
            </a:endParaRPr>
          </a:p>
          <a:p>
            <a:pPr>
              <a:lnSpc>
                <a:spcPct val="90000"/>
              </a:lnSpc>
            </a:pPr>
            <a:r>
              <a:rPr lang="en-US" dirty="0" smtClean="0">
                <a:latin typeface="Century Schoolbook" pitchFamily="18" charset="0"/>
              </a:rPr>
              <a:t>words entered by user are assigned to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>
                <a:latin typeface="Century Schoolbook" pitchFamily="18" charset="0"/>
              </a:rPr>
              <a:t>	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varname</a:t>
            </a:r>
            <a:r>
              <a:rPr lang="en-US" dirty="0" smtClean="0">
                <a:latin typeface="Century Schoolbook" pitchFamily="18" charset="0"/>
              </a:rPr>
              <a:t> and “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more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vars</a:t>
            </a:r>
            <a:r>
              <a:rPr lang="en-US" dirty="0" smtClean="0">
                <a:latin typeface="Century Schoolbook" pitchFamily="18" charset="0"/>
              </a:rPr>
              <a:t>”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latin typeface="Century Schoolbook" pitchFamily="18" charset="0"/>
              </a:rPr>
              <a:t>last variable gets rest of input line</a:t>
            </a:r>
          </a:p>
        </p:txBody>
      </p:sp>
      <p:sp>
        <p:nvSpPr>
          <p:cNvPr id="11267" name="Slide Number Placeholder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983572D9-42C2-4C07-AFFB-F329921C466D}" type="slidenum">
              <a:rPr lang="en-US"/>
              <a:pPr/>
              <a:t>9</a:t>
            </a:fld>
            <a:endParaRPr lang="en-US"/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/>
              <a:t>CSCI 330 - The Unix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7772400" cy="11430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b="1" dirty="0" smtClean="0"/>
              <a:t>User input example</a:t>
            </a:r>
            <a:endParaRPr lang="en-US" sz="3200" b="1" dirty="0"/>
          </a:p>
        </p:txBody>
      </p:sp>
      <p:sp>
        <p:nvSpPr>
          <p:cNvPr id="12290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7467600" cy="533082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E.g. 1:</a:t>
            </a:r>
          </a:p>
          <a:p>
            <a:pPr lvl="1">
              <a:buFont typeface="Wingdings" pitchFamily="2" charset="2"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echo "First name:”</a:t>
            </a:r>
          </a:p>
          <a:p>
            <a:pPr lvl="1">
              <a:buFont typeface="Wingdings" pitchFamily="2" charset="2"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read  first</a:t>
            </a:r>
          </a:p>
          <a:p>
            <a:pPr lvl="1">
              <a:buFont typeface="Wingdings" pitchFamily="2" charset="2"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echo "Last 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”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read last</a:t>
            </a:r>
          </a:p>
          <a:p>
            <a:pPr lvl="1">
              <a:buFont typeface="Wingdings" pitchFamily="2" charset="2"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echo “Your name is : $first  $last”  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//Retrieving Value of a variable</a:t>
            </a:r>
            <a:endParaRPr lang="en-US" sz="2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E.g. 2: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echo “What is your name?”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read MY_NAME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echo "Hello $MY_NAME - hope you're well."</a:t>
            </a:r>
          </a:p>
          <a:p>
            <a:pPr>
              <a:buFont typeface="Wingdings" pitchFamily="2" charset="2"/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91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551C1254-9A4E-4994-BC6C-01654E560A30}" type="slidenum">
              <a:rPr lang="en-US"/>
              <a:pPr/>
              <a:t>10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609600" y="691006"/>
            <a:ext cx="7062720" cy="479539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81639" tIns="40820" rIns="81639" bIns="40820">
            <a:spAutoFit/>
          </a:bodyPr>
          <a:lstStyle/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b="1" i="1" dirty="0">
                <a:solidFill>
                  <a:srgbClr val="000000"/>
                </a:solidFill>
                <a:latin typeface="Times New Roman" pitchFamily="18" charset="0"/>
              </a:rPr>
              <a:t>#print date </a:t>
            </a:r>
            <a:r>
              <a:rPr lang="en-GB" sz="2400" b="1" i="1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GB" sz="2400" b="1" i="1" dirty="0">
                <a:solidFill>
                  <a:srgbClr val="000000"/>
                </a:solidFill>
                <a:latin typeface="Times New Roman" pitchFamily="18" charset="0"/>
              </a:rPr>
              <a:t>-  </a:t>
            </a:r>
            <a:r>
              <a:rPr lang="en-GB" sz="2400" b="1" i="1" dirty="0" smtClean="0">
                <a:solidFill>
                  <a:srgbClr val="000000"/>
                </a:solidFill>
                <a:latin typeface="Times New Roman" pitchFamily="18" charset="0"/>
              </a:rPr>
              <a:t>today.sh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GB" sz="2400" b="1" i="1" dirty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echo "Today is:"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dirty="0" smtClean="0">
                <a:solidFill>
                  <a:srgbClr val="000000"/>
                </a:solidFill>
                <a:latin typeface="Times New Roman" pitchFamily="18" charset="0"/>
              </a:rPr>
              <a:t>date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GB" sz="2400" i="1" dirty="0" smtClean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Save it as </a:t>
            </a:r>
            <a:r>
              <a:rPr lang="en-GB" sz="2400" b="1" dirty="0" smtClean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dirty="0" smtClean="0">
                <a:solidFill>
                  <a:srgbClr val="000000"/>
                </a:solidFill>
                <a:latin typeface="Times New Roman" pitchFamily="18" charset="0"/>
              </a:rPr>
              <a:t>	today.sh</a:t>
            </a: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Run: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dirty="0" err="1">
                <a:solidFill>
                  <a:srgbClr val="000000"/>
                </a:solidFill>
                <a:latin typeface="Times New Roman" pitchFamily="18" charset="0"/>
              </a:rPr>
              <a:t>sh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today.sh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914400" y="1752600"/>
            <a:ext cx="7772400" cy="4572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sz="2400" b="1" dirty="0" smtClean="0">
                <a:cs typeface="Courier New" pitchFamily="49" charset="0"/>
              </a:rPr>
              <a:t>E.g.1 :</a:t>
            </a:r>
            <a:endParaRPr lang="en-US" sz="2400" b="1" dirty="0" smtClean="0"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 dirty="0" smtClean="0">
                <a:cs typeface="Courier New" pitchFamily="49" charset="0"/>
              </a:rPr>
              <a:t>echo "Hello $USER"</a:t>
            </a:r>
          </a:p>
          <a:p>
            <a:pPr>
              <a:buFont typeface="Wingdings" pitchFamily="2" charset="2"/>
              <a:buNone/>
            </a:pPr>
            <a:r>
              <a:rPr lang="en-US" sz="2400" dirty="0" smtClean="0">
                <a:cs typeface="Courier New" pitchFamily="49" charset="0"/>
              </a:rPr>
              <a:t>echo "This machine is `</a:t>
            </a:r>
            <a:r>
              <a:rPr lang="en-US" sz="2400" dirty="0" err="1" smtClean="0">
                <a:cs typeface="Courier New" pitchFamily="49" charset="0"/>
              </a:rPr>
              <a:t>uname</a:t>
            </a:r>
            <a:r>
              <a:rPr lang="en-US" sz="2400" dirty="0" smtClean="0">
                <a:cs typeface="Courier New" pitchFamily="49" charset="0"/>
              </a:rPr>
              <a:t> -n`"</a:t>
            </a:r>
          </a:p>
          <a:p>
            <a:pPr>
              <a:buFont typeface="Wingdings" pitchFamily="2" charset="2"/>
              <a:buNone/>
            </a:pPr>
            <a:r>
              <a:rPr lang="en-US" sz="2400" dirty="0" smtClean="0">
                <a:cs typeface="Courier New" pitchFamily="49" charset="0"/>
              </a:rPr>
              <a:t>echo "The calendar for this month is:"</a:t>
            </a:r>
          </a:p>
          <a:p>
            <a:pPr>
              <a:buFont typeface="Wingdings" pitchFamily="2" charset="2"/>
              <a:buNone/>
            </a:pPr>
            <a:r>
              <a:rPr lang="en-US" sz="2400" dirty="0" smtClean="0">
                <a:cs typeface="Courier New" pitchFamily="49" charset="0"/>
              </a:rPr>
              <a:t>cal</a:t>
            </a:r>
          </a:p>
          <a:p>
            <a:pPr>
              <a:buFont typeface="Wingdings" pitchFamily="2" charset="2"/>
              <a:buNone/>
            </a:pPr>
            <a:r>
              <a:rPr lang="en-US" sz="2400" dirty="0" smtClean="0">
                <a:cs typeface="Courier New" pitchFamily="49" charset="0"/>
              </a:rPr>
              <a:t>echo "You are running these processes:"</a:t>
            </a:r>
          </a:p>
          <a:p>
            <a:pPr>
              <a:buFont typeface="Wingdings" pitchFamily="2" charset="2"/>
              <a:buNone/>
            </a:pPr>
            <a:r>
              <a:rPr lang="en-US" sz="2400" dirty="0" err="1" smtClean="0">
                <a:cs typeface="Courier New" pitchFamily="49" charset="0"/>
              </a:rPr>
              <a:t>ps</a:t>
            </a:r>
            <a:endParaRPr lang="en-US" sz="2400" dirty="0" smtClean="0">
              <a:cs typeface="Courier New" pitchFamily="49" charset="0"/>
            </a:endParaRPr>
          </a:p>
        </p:txBody>
      </p:sp>
      <p:sp>
        <p:nvSpPr>
          <p:cNvPr id="81924" name="Slide Number Placeholder 4"/>
          <p:cNvSpPr txBox="1">
            <a:spLocks noGrp="1"/>
          </p:cNvSpPr>
          <p:nvPr/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fld id="{43153D2E-84FA-4EC9-863D-33DA171C150A}" type="slidenum">
              <a:rPr lang="en-US" sz="1400" b="1">
                <a:solidFill>
                  <a:srgbClr val="FFFFFF"/>
                </a:solidFill>
              </a:rPr>
              <a:pPr algn="ctr"/>
              <a:t>12</a:t>
            </a:fld>
            <a:endParaRPr lang="en-US" sz="1400" b="1">
              <a:solidFill>
                <a:srgbClr val="FFFFFF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2400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UNIX Commands can be run through shell files 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74638"/>
            <a:ext cx="77724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/>
              <a:t>O</a:t>
            </a:r>
            <a:r>
              <a:rPr lang="en-US" b="1" dirty="0" smtClean="0"/>
              <a:t>utput</a:t>
            </a:r>
            <a:endParaRPr lang="en-US" b="1" dirty="0" smtClean="0"/>
          </a:p>
        </p:txBody>
      </p:sp>
      <p:sp>
        <p:nvSpPr>
          <p:cNvPr id="83971" name="Rectangle 3"/>
          <p:cNvSpPr>
            <a:spLocks noGrp="1" noChangeArrowheads="1"/>
          </p:cNvSpPr>
          <p:nvPr>
            <p:ph sz="quarter" idx="4294967295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%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chmod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u+x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hello</a:t>
            </a:r>
          </a:p>
          <a:p>
            <a:pPr>
              <a:buFont typeface="Wingdings" pitchFamily="2" charset="2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% ./hello</a:t>
            </a:r>
          </a:p>
          <a:p>
            <a:pPr>
              <a:buFont typeface="Wingdings" pitchFamily="2" charset="2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Hello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ege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!</a:t>
            </a:r>
          </a:p>
          <a:p>
            <a:pPr>
              <a:buFont typeface="Wingdings" pitchFamily="2" charset="2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This machine is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turing</a:t>
            </a: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The calendar for this month is</a:t>
            </a:r>
          </a:p>
          <a:p>
            <a:pPr>
              <a:buFont typeface="Wingdings" pitchFamily="2" charset="2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February 2008</a:t>
            </a:r>
          </a:p>
          <a:p>
            <a:pPr>
              <a:buFont typeface="Wingdings" pitchFamily="2" charset="2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S  M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Tu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W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F  S</a:t>
            </a:r>
          </a:p>
          <a:p>
            <a:pPr>
              <a:buFont typeface="Wingdings" pitchFamily="2" charset="2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1  2  3  4  5  6  7</a:t>
            </a:r>
          </a:p>
          <a:p>
            <a:pPr>
              <a:buFont typeface="Wingdings" pitchFamily="2" charset="2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8  9 10 11 12 13 14</a:t>
            </a:r>
          </a:p>
          <a:p>
            <a:pPr>
              <a:buFont typeface="Wingdings" pitchFamily="2" charset="2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15 16 17 18 19 20 21</a:t>
            </a:r>
          </a:p>
          <a:p>
            <a:pPr>
              <a:buFont typeface="Wingdings" pitchFamily="2" charset="2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22 23 24 25 26 27 28</a:t>
            </a:r>
          </a:p>
          <a:p>
            <a:pPr>
              <a:buFont typeface="Wingdings" pitchFamily="2" charset="2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You are running these processes:</a:t>
            </a:r>
          </a:p>
          <a:p>
            <a:pPr>
              <a:buFont typeface="Wingdings" pitchFamily="2" charset="2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PID TTY      TIME CMD</a:t>
            </a:r>
          </a:p>
          <a:p>
            <a:pPr>
              <a:buFont typeface="Wingdings" pitchFamily="2" charset="2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24861 pts/18   0:00 hello.csh</a:t>
            </a:r>
          </a:p>
          <a:p>
            <a:pPr>
              <a:buFont typeface="Wingdings" pitchFamily="2" charset="2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24430 pts/18   0:00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csh</a:t>
            </a: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3972" name="Slide Number Placeholder 4"/>
          <p:cNvSpPr txBox="1">
            <a:spLocks noGrp="1"/>
          </p:cNvSpPr>
          <p:nvPr/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fld id="{6883EECC-010B-4908-8918-151AC07E196A}" type="slidenum">
              <a:rPr lang="en-US" sz="1400" b="1">
                <a:solidFill>
                  <a:srgbClr val="FFFFFF"/>
                </a:solidFill>
              </a:rPr>
              <a:pPr algn="ctr"/>
              <a:t>13</a:t>
            </a:fld>
            <a:endParaRPr lang="en-US" sz="14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/>
              <a:t>E.g. 2:</a:t>
            </a:r>
            <a:endParaRPr lang="en-US" b="1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echo “Files listed by default command :”</a:t>
            </a:r>
          </a:p>
          <a:p>
            <a:pPr>
              <a:buNone/>
            </a:pPr>
            <a:r>
              <a:rPr lang="en-US" dirty="0" smtClean="0"/>
              <a:t>echo</a:t>
            </a:r>
          </a:p>
          <a:p>
            <a:pPr>
              <a:buNone/>
            </a:pPr>
            <a:r>
              <a:rPr lang="en-US" dirty="0" smtClean="0"/>
              <a:t>echo</a:t>
            </a:r>
          </a:p>
          <a:p>
            <a:pPr>
              <a:buNone/>
            </a:pPr>
            <a:r>
              <a:rPr lang="en-US" dirty="0" err="1" smtClean="0"/>
              <a:t>ls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echo “Files listed in Seven Attribute Format :”</a:t>
            </a:r>
          </a:p>
          <a:p>
            <a:pPr>
              <a:buNone/>
            </a:pPr>
            <a:r>
              <a:rPr lang="en-US" dirty="0" smtClean="0"/>
              <a:t>echo</a:t>
            </a:r>
          </a:p>
          <a:p>
            <a:pPr>
              <a:buNone/>
            </a:pPr>
            <a:r>
              <a:rPr lang="en-US" dirty="0" smtClean="0"/>
              <a:t>Echo</a:t>
            </a:r>
          </a:p>
          <a:p>
            <a:pPr>
              <a:buNone/>
            </a:pPr>
            <a:r>
              <a:rPr lang="en-US" dirty="0" err="1" smtClean="0"/>
              <a:t>ls</a:t>
            </a:r>
            <a:r>
              <a:rPr lang="en-US" dirty="0" smtClean="0"/>
              <a:t> -l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77724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/>
              <a:t>bash control </a:t>
            </a:r>
            <a:r>
              <a:rPr lang="en-US" b="1" dirty="0" smtClean="0"/>
              <a:t>structures :</a:t>
            </a:r>
            <a:endParaRPr lang="en-US" b="1" dirty="0" smtClean="0"/>
          </a:p>
        </p:txBody>
      </p:sp>
      <p:sp>
        <p:nvSpPr>
          <p:cNvPr id="1536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908175"/>
            <a:ext cx="7467600" cy="4873625"/>
          </a:xfrm>
        </p:spPr>
        <p:txBody>
          <a:bodyPr/>
          <a:lstStyle/>
          <a:p>
            <a:r>
              <a:rPr lang="en-US" dirty="0" smtClean="0">
                <a:latin typeface="Century Schoolbook" pitchFamily="18" charset="0"/>
              </a:rPr>
              <a:t>if-then-else</a:t>
            </a:r>
          </a:p>
          <a:p>
            <a:r>
              <a:rPr lang="en-US" dirty="0" smtClean="0">
                <a:latin typeface="Century Schoolbook" pitchFamily="18" charset="0"/>
              </a:rPr>
              <a:t>case</a:t>
            </a:r>
          </a:p>
          <a:p>
            <a:r>
              <a:rPr lang="en-US" dirty="0" smtClean="0">
                <a:latin typeface="Century Schoolbook" pitchFamily="18" charset="0"/>
              </a:rPr>
              <a:t>loops</a:t>
            </a:r>
          </a:p>
          <a:p>
            <a:pPr lvl="1"/>
            <a:r>
              <a:rPr lang="en-US" dirty="0" smtClean="0">
                <a:latin typeface="Century Schoolbook" pitchFamily="18" charset="0"/>
              </a:rPr>
              <a:t>for</a:t>
            </a:r>
          </a:p>
          <a:p>
            <a:pPr lvl="1"/>
            <a:r>
              <a:rPr lang="en-US" dirty="0" smtClean="0">
                <a:latin typeface="Century Schoolbook" pitchFamily="18" charset="0"/>
              </a:rPr>
              <a:t>while</a:t>
            </a:r>
          </a:p>
          <a:p>
            <a:pPr lvl="1"/>
            <a:r>
              <a:rPr lang="en-US" dirty="0" smtClean="0">
                <a:latin typeface="Century Schoolbook" pitchFamily="18" charset="0"/>
              </a:rPr>
              <a:t>until</a:t>
            </a:r>
          </a:p>
          <a:p>
            <a:pPr lvl="1"/>
            <a:r>
              <a:rPr lang="en-US" dirty="0" smtClean="0">
                <a:latin typeface="Century Schoolbook" pitchFamily="18" charset="0"/>
              </a:rPr>
              <a:t>select</a:t>
            </a: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0FACD6BD-E3BA-4A0F-8B36-68C0030A2358}" type="slidenum">
              <a:rPr lang="en-US"/>
              <a:pPr/>
              <a:t>15</a:t>
            </a:fld>
            <a:endParaRPr lang="en-US"/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/>
              <a:t>CSCI 330 - The Unix System</a:t>
            </a:r>
          </a:p>
        </p:txBody>
      </p:sp>
    </p:spTree>
    <p:extLst>
      <p:ext uri="{BB962C8B-B14F-4D97-AF65-F5344CB8AC3E}">
        <p14:creationId xmlns:p14="http://schemas.microsoft.com/office/powerpoint/2010/main" val="3759975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77724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/>
              <a:t>if </a:t>
            </a:r>
            <a:r>
              <a:rPr lang="en-US" b="1" dirty="0" smtClean="0"/>
              <a:t>statement :</a:t>
            </a:r>
            <a:endParaRPr lang="en-US" b="1" dirty="0" smtClean="0"/>
          </a:p>
        </p:txBody>
      </p:sp>
      <p:sp>
        <p:nvSpPr>
          <p:cNvPr id="1638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lvl="1">
              <a:buFont typeface="Wingdings 2" pitchFamily="18" charset="2"/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Syntax :</a:t>
            </a:r>
          </a:p>
          <a:p>
            <a:pPr lvl="1">
              <a:buFont typeface="Wingdings 2" pitchFamily="18" charset="2"/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lvl="1">
              <a:buFont typeface="Wingdings 2" pitchFamily="18" charset="2"/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command</a:t>
            </a:r>
          </a:p>
          <a:p>
            <a:pPr lvl="1">
              <a:buFont typeface="Wingdings 2" pitchFamily="18" charset="2"/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then</a:t>
            </a:r>
          </a:p>
          <a:p>
            <a:pPr lvl="1">
              <a:buFont typeface="Wingdings 2" pitchFamily="18" charset="2"/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	statements</a:t>
            </a:r>
          </a:p>
          <a:p>
            <a:pPr lvl="1">
              <a:buFont typeface="Wingdings 2" pitchFamily="18" charset="2"/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fi</a:t>
            </a:r>
          </a:p>
          <a:p>
            <a:endParaRPr lang="en-US" dirty="0" smtClean="0">
              <a:latin typeface="Century Schoolbook" pitchFamily="18" charset="0"/>
            </a:endParaRPr>
          </a:p>
          <a:p>
            <a:r>
              <a:rPr lang="en-US" dirty="0" smtClean="0">
                <a:latin typeface="Century Schoolbook" pitchFamily="18" charset="0"/>
              </a:rPr>
              <a:t>Executes </a:t>
            </a:r>
            <a:r>
              <a:rPr lang="en-US" dirty="0">
                <a:latin typeface="Century Schoolbook" pitchFamily="18" charset="0"/>
              </a:rPr>
              <a:t>the statements only if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condition</a:t>
            </a:r>
            <a:r>
              <a:rPr lang="en-US" dirty="0">
                <a:latin typeface="Century Schoolbook" pitchFamily="18" charset="0"/>
              </a:rPr>
              <a:t> is true</a:t>
            </a:r>
          </a:p>
          <a:p>
            <a:endParaRPr lang="en-US" dirty="0" smtClean="0">
              <a:latin typeface="Century Schoolbook" pitchFamily="18" charset="0"/>
            </a:endParaRPr>
          </a:p>
          <a:p>
            <a:pPr marL="0" indent="0">
              <a:buNone/>
            </a:pPr>
            <a:endParaRPr lang="en-US" dirty="0" smtClean="0">
              <a:latin typeface="Century Schoolbook" pitchFamily="18" charset="0"/>
            </a:endParaRP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150EA113-EC4C-4495-BA00-8C840BE3658F}" type="slidenum">
              <a:rPr lang="en-US"/>
              <a:pPr/>
              <a:t>16</a:t>
            </a:fld>
            <a:endParaRPr lang="en-US"/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/>
              <a:t>CSCI 330 - The Unix System</a:t>
            </a:r>
          </a:p>
        </p:txBody>
      </p:sp>
    </p:spTree>
    <p:extLst>
      <p:ext uri="{BB962C8B-B14F-4D97-AF65-F5344CB8AC3E}">
        <p14:creationId xmlns:p14="http://schemas.microsoft.com/office/powerpoint/2010/main" val="673061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77724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/>
              <a:t>The if-then-else statement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lvl="1">
              <a:buFont typeface="Wingdings 2" pitchFamily="18" charset="2"/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if [ condition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lvl="1">
              <a:buFont typeface="Wingdings 2" pitchFamily="18" charset="2"/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then</a:t>
            </a:r>
            <a:endParaRPr lang="en-US" sz="2400" b="1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Font typeface="Wingdings 2" pitchFamily="18" charset="2"/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		statements-1</a:t>
            </a:r>
          </a:p>
          <a:p>
            <a:pPr lvl="1">
              <a:buFont typeface="Wingdings 2" pitchFamily="18" charset="2"/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lvl="1">
              <a:buFont typeface="Wingdings 2" pitchFamily="18" charset="2"/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statements-2</a:t>
            </a:r>
            <a:endParaRPr lang="en-US" sz="2400" b="1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Font typeface="Wingdings 2" pitchFamily="18" charset="2"/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fi</a:t>
            </a:r>
          </a:p>
          <a:p>
            <a:pPr lvl="1"/>
            <a:endParaRPr lang="en-US" dirty="0" smtClean="0">
              <a:latin typeface="Century Schoolbook" pitchFamily="18" charset="0"/>
            </a:endParaRPr>
          </a:p>
          <a:p>
            <a:r>
              <a:rPr lang="en-US" dirty="0" smtClean="0">
                <a:latin typeface="Century Schoolbook" pitchFamily="18" charset="0"/>
              </a:rPr>
              <a:t>executes statements-1 if condition is true</a:t>
            </a:r>
          </a:p>
          <a:p>
            <a:r>
              <a:rPr lang="en-US" dirty="0" smtClean="0">
                <a:latin typeface="Century Schoolbook" pitchFamily="18" charset="0"/>
              </a:rPr>
              <a:t>executes statements-2 if condition is false</a:t>
            </a:r>
          </a:p>
          <a:p>
            <a:endParaRPr lang="en-US" dirty="0" smtClean="0">
              <a:latin typeface="Century Schoolbook" pitchFamily="18" charset="0"/>
            </a:endParaRPr>
          </a:p>
          <a:p>
            <a:pPr lvl="1"/>
            <a:endParaRPr lang="en-US" dirty="0" smtClean="0">
              <a:latin typeface="Century Schoolbook" pitchFamily="18" charset="0"/>
            </a:endParaRPr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0D83401D-3E8D-4710-9C65-11995490DAC6}" type="slidenum">
              <a:rPr lang="en-US"/>
              <a:pPr/>
              <a:t>17</a:t>
            </a:fld>
            <a:endParaRPr lang="en-US" dirty="0"/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/>
              <a:t>CSCI 330 - The Unix System</a:t>
            </a:r>
          </a:p>
        </p:txBody>
      </p:sp>
    </p:spTree>
    <p:extLst>
      <p:ext uri="{BB962C8B-B14F-4D97-AF65-F5344CB8AC3E}">
        <p14:creationId xmlns:p14="http://schemas.microsoft.com/office/powerpoint/2010/main" val="3463959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77724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/>
              <a:t>The </a:t>
            </a:r>
            <a:r>
              <a:rPr lang="en-US" b="1" dirty="0" smtClean="0"/>
              <a:t>if…else statement</a:t>
            </a:r>
            <a:endParaRPr lang="en-US" b="1" dirty="0" smtClean="0"/>
          </a:p>
        </p:txBody>
      </p:sp>
      <p:sp>
        <p:nvSpPr>
          <p:cNvPr id="2150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lvl="1">
              <a:buFont typeface="Wingdings 2" pitchFamily="18" charset="2"/>
              <a:buNone/>
            </a:pPr>
            <a:r>
              <a:rPr lang="en-US" sz="2400" b="1" smtClean="0">
                <a:latin typeface="Courier New" pitchFamily="49" charset="0"/>
                <a:cs typeface="Courier New" pitchFamily="49" charset="0"/>
              </a:rPr>
              <a:t>if [ condition ]; then</a:t>
            </a:r>
          </a:p>
          <a:p>
            <a:pPr lvl="1">
              <a:buFont typeface="Wingdings 2" pitchFamily="18" charset="2"/>
              <a:buNone/>
            </a:pPr>
            <a:r>
              <a:rPr lang="en-US" sz="2400" b="1" smtClean="0">
                <a:latin typeface="Courier New" pitchFamily="49" charset="0"/>
                <a:cs typeface="Courier New" pitchFamily="49" charset="0"/>
              </a:rPr>
              <a:t>	  statements</a:t>
            </a:r>
          </a:p>
          <a:p>
            <a:pPr lvl="1">
              <a:buFont typeface="Wingdings 2" pitchFamily="18" charset="2"/>
              <a:buNone/>
            </a:pPr>
            <a:r>
              <a:rPr lang="en-US" sz="2400" b="1" smtClean="0">
                <a:latin typeface="Courier New" pitchFamily="49" charset="0"/>
                <a:cs typeface="Courier New" pitchFamily="49" charset="0"/>
              </a:rPr>
              <a:t>elif [ condition ]; then </a:t>
            </a:r>
          </a:p>
          <a:p>
            <a:pPr lvl="1">
              <a:buFont typeface="Wingdings 2" pitchFamily="18" charset="2"/>
              <a:buNone/>
            </a:pPr>
            <a:r>
              <a:rPr lang="en-US" sz="2400" b="1" smtClean="0">
                <a:latin typeface="Courier New" pitchFamily="49" charset="0"/>
                <a:cs typeface="Courier New" pitchFamily="49" charset="0"/>
              </a:rPr>
              <a:t>    statement</a:t>
            </a:r>
          </a:p>
          <a:p>
            <a:pPr lvl="1">
              <a:buFont typeface="Wingdings 2" pitchFamily="18" charset="2"/>
              <a:buNone/>
            </a:pPr>
            <a:r>
              <a:rPr lang="en-US" sz="2400" b="1" smtClean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lvl="1">
              <a:buFont typeface="Wingdings 2" pitchFamily="18" charset="2"/>
              <a:buNone/>
            </a:pPr>
            <a:r>
              <a:rPr lang="en-US" sz="2400" b="1" smtClean="0">
                <a:latin typeface="Courier New" pitchFamily="49" charset="0"/>
                <a:cs typeface="Courier New" pitchFamily="49" charset="0"/>
              </a:rPr>
              <a:t>    statements </a:t>
            </a:r>
          </a:p>
          <a:p>
            <a:pPr lvl="1">
              <a:buFont typeface="Wingdings 2" pitchFamily="18" charset="2"/>
              <a:buNone/>
            </a:pPr>
            <a:r>
              <a:rPr lang="en-US" sz="2400" b="1" smtClean="0">
                <a:latin typeface="Courier New" pitchFamily="49" charset="0"/>
                <a:cs typeface="Courier New" pitchFamily="49" charset="0"/>
              </a:rPr>
              <a:t>fi</a:t>
            </a:r>
          </a:p>
          <a:p>
            <a:endParaRPr lang="en-US" smtClean="0">
              <a:latin typeface="Century Schoolbook" pitchFamily="18" charset="0"/>
            </a:endParaRPr>
          </a:p>
          <a:p>
            <a:r>
              <a:rPr lang="en-US" smtClean="0">
                <a:latin typeface="Century Schoolbook" pitchFamily="18" charset="0"/>
              </a:rPr>
              <a:t>The word </a:t>
            </a:r>
            <a:r>
              <a:rPr lang="en-US" b="1" smtClean="0">
                <a:latin typeface="Courier New" pitchFamily="49" charset="0"/>
                <a:cs typeface="Courier New" pitchFamily="49" charset="0"/>
              </a:rPr>
              <a:t>elif</a:t>
            </a:r>
            <a:r>
              <a:rPr lang="en-US" smtClean="0">
                <a:latin typeface="Century Schoolbook" pitchFamily="18" charset="0"/>
              </a:rPr>
              <a:t> stands for “else if”  </a:t>
            </a:r>
          </a:p>
          <a:p>
            <a:r>
              <a:rPr lang="en-US" smtClean="0">
                <a:latin typeface="Century Schoolbook" pitchFamily="18" charset="0"/>
              </a:rPr>
              <a:t>It is part of the if statement and cannot be used by itself</a:t>
            </a:r>
          </a:p>
        </p:txBody>
      </p:sp>
      <p:sp>
        <p:nvSpPr>
          <p:cNvPr id="21507" name="Slide Number Placeholder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EEA42569-02D8-4CE0-A659-7704756AF1EC}" type="slidenum">
              <a:rPr lang="en-US"/>
              <a:pPr/>
              <a:t>18</a:t>
            </a:fld>
            <a:endParaRPr lang="en-US" dirty="0"/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/>
              <a:t>CSCI 330 - The Unix System</a:t>
            </a:r>
          </a:p>
        </p:txBody>
      </p:sp>
    </p:spTree>
    <p:extLst>
      <p:ext uri="{BB962C8B-B14F-4D97-AF65-F5344CB8AC3E}">
        <p14:creationId xmlns:p14="http://schemas.microsoft.com/office/powerpoint/2010/main" val="1383269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28600"/>
            <a:ext cx="3657600" cy="5668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/>
              <a:t>1.</a:t>
            </a:r>
            <a:r>
              <a:rPr lang="en-US" sz="2000" dirty="0" smtClean="0"/>
              <a:t> if </a:t>
            </a:r>
            <a:r>
              <a:rPr lang="en-US" sz="2000" i="1" dirty="0" smtClean="0"/>
              <a:t>command1 </a:t>
            </a:r>
          </a:p>
          <a:p>
            <a:pPr>
              <a:buNone/>
            </a:pPr>
            <a:r>
              <a:rPr lang="en-US" sz="2000" dirty="0" smtClean="0"/>
              <a:t>then        </a:t>
            </a:r>
          </a:p>
          <a:p>
            <a:pPr>
              <a:buNone/>
            </a:pPr>
            <a:r>
              <a:rPr lang="en-US" sz="2000" dirty="0" smtClean="0"/>
              <a:t>                       </a:t>
            </a:r>
            <a:r>
              <a:rPr lang="en-US" sz="2000" i="1" dirty="0" smtClean="0"/>
              <a:t>command-list</a:t>
            </a:r>
          </a:p>
          <a:p>
            <a:pPr>
              <a:buNone/>
            </a:pPr>
            <a:r>
              <a:rPr lang="en-US" sz="2000" i="1" dirty="0" smtClean="0"/>
              <a:t> </a:t>
            </a:r>
            <a:r>
              <a:rPr lang="en-US" sz="2000" dirty="0" err="1" smtClean="0"/>
              <a:t>fi</a:t>
            </a:r>
            <a:r>
              <a:rPr lang="en-US" sz="2000" dirty="0" smtClean="0"/>
              <a:t>               </a:t>
            </a:r>
          </a:p>
          <a:p>
            <a:pPr>
              <a:buNone/>
            </a:pPr>
            <a:r>
              <a:rPr lang="en-US" sz="2000" dirty="0" smtClean="0"/>
              <a:t>          </a:t>
            </a:r>
          </a:p>
          <a:p>
            <a:pPr>
              <a:buNone/>
            </a:pPr>
            <a:r>
              <a:rPr lang="en-US" sz="2000" b="1" dirty="0" smtClean="0"/>
              <a:t>2.</a:t>
            </a:r>
            <a:r>
              <a:rPr lang="en-US" sz="2000" dirty="0" smtClean="0"/>
              <a:t>  if </a:t>
            </a:r>
            <a:r>
              <a:rPr lang="en-US" sz="2000" i="1" dirty="0" smtClean="0"/>
              <a:t>command1 </a:t>
            </a:r>
          </a:p>
          <a:p>
            <a:pPr>
              <a:buNone/>
            </a:pPr>
            <a:r>
              <a:rPr lang="en-US" sz="2000" dirty="0" smtClean="0"/>
              <a:t>then   </a:t>
            </a:r>
          </a:p>
          <a:p>
            <a:pPr>
              <a:buNone/>
            </a:pPr>
            <a:r>
              <a:rPr lang="en-US" sz="2000" i="1" dirty="0" smtClean="0"/>
              <a:t>		command-list1</a:t>
            </a:r>
            <a:r>
              <a:rPr lang="en-US" sz="2000" dirty="0" smtClean="0"/>
              <a:t>  </a:t>
            </a:r>
          </a:p>
          <a:p>
            <a:pPr>
              <a:buNone/>
            </a:pPr>
            <a:r>
              <a:rPr lang="en-US" sz="2000" dirty="0" smtClean="0"/>
              <a:t>  </a:t>
            </a:r>
            <a:r>
              <a:rPr lang="en-US" sz="2000" dirty="0" err="1" smtClean="0"/>
              <a:t>elif</a:t>
            </a:r>
            <a:r>
              <a:rPr lang="en-US" sz="2000" dirty="0" smtClean="0"/>
              <a:t> command1   </a:t>
            </a:r>
          </a:p>
          <a:p>
            <a:pPr>
              <a:buNone/>
            </a:pPr>
            <a:r>
              <a:rPr lang="en-US" sz="2000" i="1" dirty="0" smtClean="0"/>
              <a:t>		command-list2</a:t>
            </a:r>
            <a:r>
              <a:rPr lang="en-US" sz="2000" dirty="0" smtClean="0"/>
              <a:t>   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fi</a:t>
            </a:r>
            <a:endParaRPr lang="en-US" sz="2000" dirty="0" smtClean="0"/>
          </a:p>
          <a:p>
            <a:pPr>
              <a:buNone/>
            </a:pPr>
            <a:r>
              <a:rPr lang="en-US" sz="2000" b="1" dirty="0" smtClean="0"/>
              <a:t> </a:t>
            </a:r>
            <a:r>
              <a:rPr lang="en-US" sz="2000" b="1" dirty="0" smtClean="0"/>
              <a:t>3.</a:t>
            </a:r>
            <a:r>
              <a:rPr lang="en-US" sz="2000" dirty="0" smtClean="0"/>
              <a:t> if </a:t>
            </a:r>
            <a:r>
              <a:rPr lang="en-US" sz="2000" i="1" dirty="0" smtClean="0"/>
              <a:t>command1 </a:t>
            </a:r>
          </a:p>
          <a:p>
            <a:pPr>
              <a:buNone/>
            </a:pPr>
            <a:r>
              <a:rPr lang="en-US" sz="2000" dirty="0" smtClean="0"/>
              <a:t>then   </a:t>
            </a:r>
          </a:p>
          <a:p>
            <a:pPr>
              <a:buNone/>
            </a:pPr>
            <a:r>
              <a:rPr lang="en-US" sz="2000" i="1" dirty="0"/>
              <a:t>	</a:t>
            </a:r>
            <a:r>
              <a:rPr lang="en-US" sz="2000" i="1" dirty="0" smtClean="0"/>
              <a:t>command-list1</a:t>
            </a:r>
            <a:r>
              <a:rPr lang="en-US" sz="2000" dirty="0" smtClean="0"/>
              <a:t>   </a:t>
            </a:r>
          </a:p>
          <a:p>
            <a:pPr>
              <a:buNone/>
            </a:pPr>
            <a:r>
              <a:rPr lang="en-US" sz="2000" dirty="0" smtClean="0"/>
              <a:t> else   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smtClean="0"/>
              <a:t> </a:t>
            </a:r>
            <a:r>
              <a:rPr lang="en-US" sz="2000" i="1" dirty="0" smtClean="0"/>
              <a:t>command-list2</a:t>
            </a:r>
            <a:r>
              <a:rPr lang="en-US" sz="2000" dirty="0" smtClean="0"/>
              <a:t>   </a:t>
            </a:r>
          </a:p>
          <a:p>
            <a:pPr>
              <a:buNone/>
            </a:pPr>
            <a:r>
              <a:rPr lang="en-US" sz="2000" dirty="0" smtClean="0"/>
              <a:t> </a:t>
            </a:r>
            <a:r>
              <a:rPr lang="en-US" sz="2000" dirty="0" err="1" smtClean="0"/>
              <a:t>fi</a:t>
            </a:r>
            <a:endParaRPr lang="en-US" sz="2000" dirty="0"/>
          </a:p>
        </p:txBody>
      </p:sp>
      <p:sp>
        <p:nvSpPr>
          <p:cNvPr id="4" name="Text Box 1"/>
          <p:cNvSpPr txBox="1">
            <a:spLocks noChangeArrowheads="1"/>
          </p:cNvSpPr>
          <p:nvPr/>
        </p:nvSpPr>
        <p:spPr bwMode="auto">
          <a:xfrm>
            <a:off x="4419600" y="396254"/>
            <a:ext cx="5334000" cy="608074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81639" tIns="40820" rIns="81639" bIns="40820">
            <a:spAutoFit/>
          </a:bodyPr>
          <a:lstStyle/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b="1" i="1" dirty="0">
                <a:solidFill>
                  <a:srgbClr val="000000"/>
                </a:solidFill>
                <a:latin typeface="Times New Roman" pitchFamily="18" charset="0"/>
              </a:rPr>
              <a:t>#if stmt - </a:t>
            </a:r>
            <a:r>
              <a:rPr lang="en-GB" sz="2400" b="1" i="1" dirty="0" smtClean="0">
                <a:solidFill>
                  <a:srgbClr val="000000"/>
                </a:solidFill>
                <a:latin typeface="Times New Roman" pitchFamily="18" charset="0"/>
              </a:rPr>
              <a:t>if_ex.sh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GB" sz="2400" b="1" i="1" dirty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echo "Enter the search string:"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read string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echo "Enter the file name:"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read filename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 err="1">
                <a:solidFill>
                  <a:srgbClr val="000000"/>
                </a:solidFill>
                <a:latin typeface="Times New Roman" pitchFamily="18" charset="0"/>
              </a:rPr>
              <a:t>grep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 -n "$string" $filename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# $? gives exit status of last command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if </a:t>
            </a:r>
            <a:r>
              <a:rPr lang="en-GB" sz="2400" i="1" dirty="0" smtClean="0">
                <a:solidFill>
                  <a:srgbClr val="000000"/>
                </a:solidFill>
                <a:latin typeface="Times New Roman" pitchFamily="18" charset="0"/>
              </a:rPr>
              <a:t>[ $?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-</a:t>
            </a:r>
            <a:r>
              <a:rPr lang="en-GB" sz="2400" i="1" dirty="0" err="1">
                <a:solidFill>
                  <a:srgbClr val="000000"/>
                </a:solidFill>
                <a:latin typeface="Times New Roman" pitchFamily="18" charset="0"/>
              </a:rPr>
              <a:t>eq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 0 ]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then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	echo " </a:t>
            </a:r>
            <a:r>
              <a:rPr lang="en-GB" sz="2400" i="1" dirty="0" err="1">
                <a:solidFill>
                  <a:srgbClr val="000000"/>
                </a:solidFill>
                <a:latin typeface="Times New Roman" pitchFamily="18" charset="0"/>
              </a:rPr>
              <a:t>Yes,the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 word present in the file"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else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	echo "</a:t>
            </a:r>
            <a:r>
              <a:rPr lang="en-GB" sz="2400" i="1" dirty="0" err="1">
                <a:solidFill>
                  <a:srgbClr val="000000"/>
                </a:solidFill>
                <a:latin typeface="Times New Roman" pitchFamily="18" charset="0"/>
              </a:rPr>
              <a:t>No,word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 not present"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 err="1">
                <a:solidFill>
                  <a:srgbClr val="000000"/>
                </a:solidFill>
                <a:latin typeface="Times New Roman" pitchFamily="18" charset="0"/>
              </a:rPr>
              <a:t>fi</a:t>
            </a:r>
            <a:endParaRPr lang="en-GB" sz="2400" i="1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44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1"/>
          <p:cNvSpPr txBox="1">
            <a:spLocks noChangeArrowheads="1"/>
          </p:cNvSpPr>
          <p:nvPr/>
        </p:nvSpPr>
        <p:spPr bwMode="auto">
          <a:xfrm>
            <a:off x="1244160" y="197302"/>
            <a:ext cx="6013440" cy="672310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1639" tIns="40820" rIns="81639" bIns="40820">
            <a:spAutoFit/>
          </a:bodyPr>
          <a:lstStyle/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u="sng" dirty="0">
                <a:solidFill>
                  <a:srgbClr val="000000"/>
                </a:solidFill>
                <a:latin typeface="Times New Roman" pitchFamily="18" charset="0"/>
              </a:rPr>
              <a:t>o/p :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[oss@pc021698 ~]$ </a:t>
            </a:r>
            <a:r>
              <a:rPr lang="en-GB" sz="2400" i="1" dirty="0" err="1">
                <a:solidFill>
                  <a:srgbClr val="000000"/>
                </a:solidFill>
                <a:latin typeface="Times New Roman" pitchFamily="18" charset="0"/>
              </a:rPr>
              <a:t>sh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 if_ex.sh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Enter the search string: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date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Enter the file name: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today.sh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2:date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GB" sz="2400" i="1" dirty="0" err="1">
                <a:solidFill>
                  <a:srgbClr val="000000"/>
                </a:solidFill>
                <a:latin typeface="Times New Roman" pitchFamily="18" charset="0"/>
              </a:rPr>
              <a:t>Yes,the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 word present in the file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u="sng" dirty="0">
                <a:solidFill>
                  <a:srgbClr val="000000"/>
                </a:solidFill>
                <a:latin typeface="Times New Roman" pitchFamily="18" charset="0"/>
              </a:rPr>
              <a:t>o/p: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[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oss@pc021698 ~]$ </a:t>
            </a:r>
            <a:r>
              <a:rPr lang="en-GB" sz="2400" i="1" dirty="0" err="1">
                <a:solidFill>
                  <a:srgbClr val="000000"/>
                </a:solidFill>
                <a:latin typeface="Times New Roman" pitchFamily="18" charset="0"/>
              </a:rPr>
              <a:t>sh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 if_ex.sh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Enter the search string: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year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Enter the file name: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today.sh</a:t>
            </a:r>
          </a:p>
          <a:p>
            <a:pPr>
              <a:lnSpc>
                <a:spcPct val="116000"/>
              </a:lnSpc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i="1" dirty="0" err="1">
                <a:solidFill>
                  <a:srgbClr val="000000"/>
                </a:solidFill>
                <a:latin typeface="Times New Roman" pitchFamily="18" charset="0"/>
              </a:rPr>
              <a:t>No,word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 not present</a:t>
            </a:r>
          </a:p>
        </p:txBody>
      </p:sp>
    </p:spTree>
    <p:extLst>
      <p:ext uri="{BB962C8B-B14F-4D97-AF65-F5344CB8AC3E}">
        <p14:creationId xmlns:p14="http://schemas.microsoft.com/office/powerpoint/2010/main" val="12814706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Relational Operators</a:t>
            </a:r>
          </a:p>
        </p:txBody>
      </p:sp>
      <p:graphicFrame>
        <p:nvGraphicFramePr>
          <p:cNvPr id="652291" name="Group 3"/>
          <p:cNvGraphicFramePr>
            <a:graphicFrameLocks noGrp="1"/>
          </p:cNvGraphicFramePr>
          <p:nvPr>
            <p:ph type="tbl" idx="1"/>
          </p:nvPr>
        </p:nvGraphicFramePr>
        <p:xfrm>
          <a:off x="762000" y="1295400"/>
          <a:ext cx="6629400" cy="5029198"/>
        </p:xfrm>
        <a:graphic>
          <a:graphicData uri="http://schemas.openxmlformats.org/drawingml/2006/table">
            <a:tbl>
              <a:tblPr/>
              <a:tblGrid>
                <a:gridCol w="3657600"/>
                <a:gridCol w="1447800"/>
                <a:gridCol w="1524000"/>
              </a:tblGrid>
              <a:tr h="4611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Meaning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Numeric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String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99"/>
                    </a:solidFill>
                  </a:tcPr>
                </a:tc>
              </a:tr>
              <a:tr h="4581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Greater than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-gt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99"/>
                    </a:solidFill>
                  </a:tcPr>
                </a:tc>
              </a:tr>
              <a:tr h="455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Greater than or equal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99"/>
                    </a:solidFill>
                  </a:tcPr>
                </a:tc>
              </a:tr>
              <a:tr h="4581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Less than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99"/>
                    </a:solidFill>
                  </a:tcPr>
                </a:tc>
              </a:tr>
              <a:tr h="456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Less than or equal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99"/>
                    </a:solidFill>
                  </a:tcPr>
                </a:tc>
              </a:tr>
              <a:tr h="456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Equal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-eg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 or ==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6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Not equal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!=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6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str1 is less than str2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str1 &lt; str2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6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str1 is greater str2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str1 &gt; str2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6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String length is greater than zero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-n str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6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String length is zero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-z 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str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580" name="Footer Placeholder 53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smtClean="0"/>
              <a:t>CSCI 330 - The Unix System</a:t>
            </a:r>
          </a:p>
        </p:txBody>
      </p:sp>
      <p:sp>
        <p:nvSpPr>
          <p:cNvPr id="2258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9BBF803E-4430-4483-9887-1CD3ADA6902D}" type="slidenum">
              <a:rPr lang="en-US" smtClean="0"/>
              <a:pPr/>
              <a:t>21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297792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77724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/>
              <a:t>Compound logical </a:t>
            </a:r>
            <a:r>
              <a:rPr lang="en-US" b="1" dirty="0" smtClean="0"/>
              <a:t>expressions :</a:t>
            </a:r>
            <a:endParaRPr lang="en-US" b="1" dirty="0" smtClean="0"/>
          </a:p>
        </p:txBody>
      </p:sp>
      <p:sp>
        <p:nvSpPr>
          <p:cNvPr id="2355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smtClean="0">
                <a:latin typeface="Courier New" pitchFamily="49" charset="0"/>
                <a:cs typeface="Courier New" pitchFamily="49" charset="0"/>
              </a:rPr>
              <a:t>!</a:t>
            </a:r>
            <a:r>
              <a:rPr lang="en-US" smtClean="0">
                <a:latin typeface="Century Schoolbook" pitchFamily="18" charset="0"/>
              </a:rPr>
              <a:t>			not</a:t>
            </a:r>
          </a:p>
          <a:p>
            <a:endParaRPr lang="en-US" smtClean="0">
              <a:latin typeface="Century Schoolbook" pitchFamily="18" charset="0"/>
            </a:endParaRPr>
          </a:p>
          <a:p>
            <a:endParaRPr lang="en-US" smtClean="0">
              <a:latin typeface="Century Schoolbook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b="1" smtClean="0">
                <a:latin typeface="Courier New" pitchFamily="49" charset="0"/>
                <a:cs typeface="Courier New" pitchFamily="49" charset="0"/>
              </a:rPr>
              <a:t>&amp;&amp;</a:t>
            </a:r>
            <a:r>
              <a:rPr lang="en-US" smtClean="0">
                <a:latin typeface="Century Schoolbook" pitchFamily="18" charset="0"/>
              </a:rPr>
              <a:t>		and</a:t>
            </a:r>
          </a:p>
          <a:p>
            <a:pPr>
              <a:buFont typeface="Wingdings" pitchFamily="2" charset="2"/>
              <a:buNone/>
            </a:pPr>
            <a:r>
              <a:rPr lang="en-US" b="1" smtClean="0">
                <a:latin typeface="Courier New" pitchFamily="49" charset="0"/>
                <a:cs typeface="Courier New" pitchFamily="49" charset="0"/>
              </a:rPr>
              <a:t>||</a:t>
            </a:r>
            <a:r>
              <a:rPr lang="en-US" smtClean="0">
                <a:latin typeface="Century Schoolbook" pitchFamily="18" charset="0"/>
              </a:rPr>
              <a:t>		or</a:t>
            </a:r>
          </a:p>
        </p:txBody>
      </p:sp>
      <p:sp>
        <p:nvSpPr>
          <p:cNvPr id="23555" name="Slide Number Placeholder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2B024AC4-92A7-4538-B33E-6015875095FE}" type="slidenum">
              <a:rPr lang="en-US"/>
              <a:pPr/>
              <a:t>22</a:t>
            </a:fld>
            <a:endParaRPr lang="en-US"/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/>
              <a:t>CSCI 330 - The Unix System</a:t>
            </a:r>
          </a:p>
        </p:txBody>
      </p:sp>
      <p:sp>
        <p:nvSpPr>
          <p:cNvPr id="23557" name="TextBox 5"/>
          <p:cNvSpPr txBox="1">
            <a:spLocks noChangeArrowheads="1"/>
          </p:cNvSpPr>
          <p:nvPr/>
        </p:nvSpPr>
        <p:spPr bwMode="auto">
          <a:xfrm>
            <a:off x="4495800" y="2590800"/>
            <a:ext cx="331982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u="sng" dirty="0"/>
              <a:t>and, or </a:t>
            </a:r>
          </a:p>
          <a:p>
            <a:r>
              <a:rPr lang="en-US" sz="2800" dirty="0"/>
              <a:t>must be enclosed within</a:t>
            </a:r>
          </a:p>
          <a:p>
            <a:endParaRPr lang="en-US" sz="2800" dirty="0"/>
          </a:p>
          <a:p>
            <a:r>
              <a:rPr lang="en-US" sz="2800" dirty="0"/>
              <a:t>[[                     ]]</a:t>
            </a:r>
          </a:p>
        </p:txBody>
      </p:sp>
      <p:sp>
        <p:nvSpPr>
          <p:cNvPr id="23558" name="Right Brace 6"/>
          <p:cNvSpPr>
            <a:spLocks/>
          </p:cNvSpPr>
          <p:nvPr/>
        </p:nvSpPr>
        <p:spPr bwMode="auto">
          <a:xfrm>
            <a:off x="3733800" y="2590800"/>
            <a:ext cx="384175" cy="1447800"/>
          </a:xfrm>
          <a:prstGeom prst="rightBrace">
            <a:avLst>
              <a:gd name="adj1" fmla="val 8322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4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2400" cy="1143000"/>
          </a:xfrm>
        </p:spPr>
        <p:txBody>
          <a:bodyPr/>
          <a:lstStyle/>
          <a:p>
            <a:r>
              <a:rPr lang="en-US" b="1" dirty="0" smtClean="0"/>
              <a:t>If…else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772400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#Program to decide if a number is a two-digit number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n=68</a:t>
            </a:r>
          </a:p>
          <a:p>
            <a:pPr marL="0" indent="0">
              <a:buNone/>
            </a:pPr>
            <a:r>
              <a:rPr lang="en-US" dirty="0" smtClean="0"/>
              <a:t>if </a:t>
            </a:r>
            <a:r>
              <a:rPr lang="en-US" dirty="0"/>
              <a:t>[[ ( $n -</a:t>
            </a:r>
            <a:r>
              <a:rPr lang="en-US" dirty="0" err="1"/>
              <a:t>gt</a:t>
            </a:r>
            <a:r>
              <a:rPr lang="en-US" dirty="0"/>
              <a:t> 9  &amp;&amp;  $n -</a:t>
            </a:r>
            <a:r>
              <a:rPr lang="en-US" dirty="0" err="1"/>
              <a:t>lt</a:t>
            </a:r>
            <a:r>
              <a:rPr lang="en-US" dirty="0"/>
              <a:t> 100 ) </a:t>
            </a:r>
            <a:r>
              <a:rPr lang="en-US" dirty="0" smtClean="0"/>
              <a:t>]];</a:t>
            </a:r>
          </a:p>
          <a:p>
            <a:pPr marL="0" indent="0">
              <a:buNone/>
            </a:pPr>
            <a:r>
              <a:rPr lang="en-US" dirty="0" smtClean="0"/>
              <a:t>then</a:t>
            </a:r>
          </a:p>
          <a:p>
            <a:pPr marL="0" indent="0">
              <a:buNone/>
            </a:pPr>
            <a:r>
              <a:rPr lang="en-US" dirty="0" smtClean="0"/>
              <a:t>	echo </a:t>
            </a:r>
            <a:r>
              <a:rPr lang="en-US" dirty="0"/>
              <a:t>"It is a two digit </a:t>
            </a:r>
            <a:r>
              <a:rPr lang="en-US" dirty="0" smtClean="0"/>
              <a:t>number”</a:t>
            </a:r>
          </a:p>
          <a:p>
            <a:pPr marL="0" indent="0">
              <a:buNone/>
            </a:pPr>
            <a:r>
              <a:rPr lang="en-US" dirty="0" smtClean="0"/>
              <a:t>else</a:t>
            </a:r>
          </a:p>
          <a:p>
            <a:pPr marL="0" indent="0">
              <a:buNone/>
            </a:pPr>
            <a:r>
              <a:rPr lang="en-US" dirty="0" smtClean="0"/>
              <a:t>	echo </a:t>
            </a:r>
            <a:r>
              <a:rPr lang="en-US" dirty="0"/>
              <a:t>"It is not a two digit </a:t>
            </a:r>
            <a:r>
              <a:rPr lang="en-US" dirty="0" smtClean="0"/>
              <a:t>number”</a:t>
            </a:r>
          </a:p>
          <a:p>
            <a:pPr marL="0" indent="0">
              <a:buNone/>
            </a:pPr>
            <a:r>
              <a:rPr lang="en-US" dirty="0" smtClean="0"/>
              <a:t>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805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77724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smtClean="0"/>
              <a:t>Example: Using the || Operator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None/>
            </a:pPr>
            <a:r>
              <a:rPr lang="en-US" sz="2400" dirty="0" smtClean="0">
                <a:cs typeface="Courier New" pitchFamily="49" charset="0"/>
              </a:rPr>
              <a:t>#!/bin/bash</a:t>
            </a:r>
          </a:p>
          <a:p>
            <a:pPr>
              <a:buFont typeface="Wingdings" pitchFamily="2" charset="2"/>
              <a:buNone/>
            </a:pPr>
            <a:endParaRPr lang="en-US" sz="2400" dirty="0" smtClean="0"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 dirty="0" smtClean="0">
                <a:cs typeface="Courier New" pitchFamily="49" charset="0"/>
              </a:rPr>
              <a:t>read -p "Enter calls handled:" </a:t>
            </a:r>
            <a:r>
              <a:rPr lang="en-US" sz="2400" dirty="0" err="1" smtClean="0">
                <a:cs typeface="Courier New" pitchFamily="49" charset="0"/>
              </a:rPr>
              <a:t>CHandle</a:t>
            </a:r>
            <a:endParaRPr lang="en-US" sz="2400" dirty="0" smtClean="0"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 dirty="0" smtClean="0">
                <a:cs typeface="Courier New" pitchFamily="49" charset="0"/>
              </a:rPr>
              <a:t>read -p "Enter calls closed: " </a:t>
            </a:r>
            <a:r>
              <a:rPr lang="en-US" sz="2400" dirty="0" err="1" smtClean="0">
                <a:cs typeface="Courier New" pitchFamily="49" charset="0"/>
              </a:rPr>
              <a:t>CClose</a:t>
            </a:r>
            <a:endParaRPr lang="en-US" sz="2400" dirty="0" smtClean="0"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 dirty="0" smtClean="0">
                <a:cs typeface="Courier New" pitchFamily="49" charset="0"/>
              </a:rPr>
              <a:t>if [[ "$</a:t>
            </a:r>
            <a:r>
              <a:rPr lang="en-US" sz="2400" dirty="0" err="1" smtClean="0">
                <a:cs typeface="Courier New" pitchFamily="49" charset="0"/>
              </a:rPr>
              <a:t>CHandle</a:t>
            </a:r>
            <a:r>
              <a:rPr lang="en-US" sz="2400" dirty="0" smtClean="0">
                <a:cs typeface="Courier New" pitchFamily="49" charset="0"/>
              </a:rPr>
              <a:t>" -</a:t>
            </a:r>
            <a:r>
              <a:rPr lang="en-US" sz="2400" dirty="0" err="1" smtClean="0">
                <a:cs typeface="Courier New" pitchFamily="49" charset="0"/>
              </a:rPr>
              <a:t>gt</a:t>
            </a:r>
            <a:r>
              <a:rPr lang="en-US" sz="2400" dirty="0" smtClean="0">
                <a:cs typeface="Courier New" pitchFamily="49" charset="0"/>
              </a:rPr>
              <a:t> 150 || "$</a:t>
            </a:r>
            <a:r>
              <a:rPr lang="en-US" sz="2400" dirty="0" err="1" smtClean="0">
                <a:cs typeface="Courier New" pitchFamily="49" charset="0"/>
              </a:rPr>
              <a:t>CClose</a:t>
            </a:r>
            <a:r>
              <a:rPr lang="en-US" sz="2400" dirty="0" smtClean="0">
                <a:cs typeface="Courier New" pitchFamily="49" charset="0"/>
              </a:rPr>
              <a:t>" -</a:t>
            </a:r>
            <a:r>
              <a:rPr lang="en-US" sz="2400" dirty="0" err="1" smtClean="0">
                <a:cs typeface="Courier New" pitchFamily="49" charset="0"/>
              </a:rPr>
              <a:t>gt</a:t>
            </a:r>
            <a:r>
              <a:rPr lang="en-US" sz="2400" dirty="0" smtClean="0">
                <a:cs typeface="Courier New" pitchFamily="49" charset="0"/>
              </a:rPr>
              <a:t> 50 ]]</a:t>
            </a:r>
          </a:p>
          <a:p>
            <a:pPr>
              <a:buFont typeface="Wingdings" pitchFamily="2" charset="2"/>
              <a:buNone/>
            </a:pPr>
            <a:r>
              <a:rPr lang="en-US" sz="2400" dirty="0" smtClean="0">
                <a:cs typeface="Courier New" pitchFamily="49" charset="0"/>
              </a:rPr>
              <a:t>   then</a:t>
            </a:r>
          </a:p>
          <a:p>
            <a:pPr>
              <a:buFont typeface="Wingdings" pitchFamily="2" charset="2"/>
              <a:buNone/>
            </a:pPr>
            <a:r>
              <a:rPr lang="en-US" sz="2400" dirty="0" smtClean="0">
                <a:cs typeface="Courier New" pitchFamily="49" charset="0"/>
              </a:rPr>
              <a:t>   echo "You are entitled to a bonus"</a:t>
            </a:r>
          </a:p>
          <a:p>
            <a:pPr>
              <a:buFont typeface="Wingdings" pitchFamily="2" charset="2"/>
              <a:buNone/>
            </a:pPr>
            <a:r>
              <a:rPr lang="en-US" sz="2400" dirty="0" smtClean="0">
                <a:cs typeface="Courier New" pitchFamily="49" charset="0"/>
              </a:rPr>
              <a:t>else</a:t>
            </a:r>
          </a:p>
          <a:p>
            <a:pPr>
              <a:buFont typeface="Wingdings" pitchFamily="2" charset="2"/>
              <a:buNone/>
            </a:pPr>
            <a:r>
              <a:rPr lang="en-US" sz="2400" dirty="0" smtClean="0">
                <a:cs typeface="Courier New" pitchFamily="49" charset="0"/>
              </a:rPr>
              <a:t>   echo "You get a bonus if the calls"</a:t>
            </a:r>
          </a:p>
          <a:p>
            <a:pPr>
              <a:buFont typeface="Wingdings" pitchFamily="2" charset="2"/>
              <a:buNone/>
            </a:pPr>
            <a:r>
              <a:rPr lang="en-US" sz="2400" dirty="0" smtClean="0">
                <a:cs typeface="Courier New" pitchFamily="49" charset="0"/>
              </a:rPr>
              <a:t>   echo "handled exceeds 150 or" </a:t>
            </a:r>
          </a:p>
          <a:p>
            <a:pPr>
              <a:buFont typeface="Wingdings" pitchFamily="2" charset="2"/>
              <a:buNone/>
            </a:pPr>
            <a:r>
              <a:rPr lang="en-US" sz="2400" dirty="0" smtClean="0">
                <a:cs typeface="Courier New" pitchFamily="49" charset="0"/>
              </a:rPr>
              <a:t>   echo "calls closed exceeds 50"</a:t>
            </a:r>
          </a:p>
          <a:p>
            <a:pPr>
              <a:buFont typeface="Wingdings" pitchFamily="2" charset="2"/>
              <a:buNone/>
            </a:pPr>
            <a:r>
              <a:rPr lang="en-US" sz="2400" dirty="0" smtClean="0">
                <a:cs typeface="Courier New" pitchFamily="49" charset="0"/>
              </a:rPr>
              <a:t>fi</a:t>
            </a:r>
            <a:endParaRPr lang="en-US" sz="2400" dirty="0" smtClean="0"/>
          </a:p>
        </p:txBody>
      </p:sp>
      <p:sp>
        <p:nvSpPr>
          <p:cNvPr id="26627" name="Slide Number Placeholder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47274474-D4F0-4E10-BBE1-F611778A4D0A}" type="slidenum">
              <a:rPr lang="en-US"/>
              <a:pPr/>
              <a:t>24</a:t>
            </a:fld>
            <a:endParaRPr lang="en-US"/>
          </a:p>
        </p:txBody>
      </p:sp>
      <p:sp>
        <p:nvSpPr>
          <p:cNvPr id="26628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/>
              <a:t>CSCI 330 - The Unix System</a:t>
            </a:r>
          </a:p>
        </p:txBody>
      </p:sp>
    </p:spTree>
    <p:extLst>
      <p:ext uri="{BB962C8B-B14F-4D97-AF65-F5344CB8AC3E}">
        <p14:creationId xmlns:p14="http://schemas.microsoft.com/office/powerpoint/2010/main" val="2169177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7724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/>
              <a:t>Example: if..</a:t>
            </a:r>
            <a:r>
              <a:rPr lang="en-US" b="1" dirty="0" err="1" smtClean="0"/>
              <a:t>elif</a:t>
            </a:r>
            <a:r>
              <a:rPr lang="en-US" b="1" dirty="0" smtClean="0"/>
              <a:t>... Statement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cs typeface="Courier New" pitchFamily="49" charset="0"/>
              </a:rPr>
              <a:t>#!/bin/bash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000" dirty="0" smtClean="0"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cs typeface="Courier New" pitchFamily="49" charset="0"/>
              </a:rPr>
              <a:t>read -p "Enter Income Amount: " Income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cs typeface="Courier New" pitchFamily="49" charset="0"/>
              </a:rPr>
              <a:t>read -p "Enter Expenses Amount: " Expense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000" dirty="0" smtClean="0"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cs typeface="Courier New" pitchFamily="49" charset="0"/>
              </a:rPr>
              <a:t>let Net=$Income-$Expense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000" dirty="0" smtClean="0"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cs typeface="Courier New" pitchFamily="49" charset="0"/>
              </a:rPr>
              <a:t>if [ </a:t>
            </a:r>
            <a:r>
              <a:rPr lang="en-US" dirty="0" smtClean="0">
                <a:cs typeface="Courier New" pitchFamily="49" charset="0"/>
              </a:rPr>
              <a:t>"</a:t>
            </a:r>
            <a:r>
              <a:rPr lang="en-US" sz="2000" dirty="0" smtClean="0">
                <a:cs typeface="Courier New" pitchFamily="49" charset="0"/>
              </a:rPr>
              <a:t>$Net</a:t>
            </a:r>
            <a:r>
              <a:rPr lang="en-US" dirty="0" smtClean="0">
                <a:cs typeface="Courier New" pitchFamily="49" charset="0"/>
              </a:rPr>
              <a:t>"</a:t>
            </a:r>
            <a:r>
              <a:rPr lang="en-US" sz="2000" dirty="0" smtClean="0">
                <a:cs typeface="Courier New" pitchFamily="49" charset="0"/>
              </a:rPr>
              <a:t> -</a:t>
            </a:r>
            <a:r>
              <a:rPr lang="en-US" sz="2000" dirty="0" err="1" smtClean="0">
                <a:cs typeface="Courier New" pitchFamily="49" charset="0"/>
              </a:rPr>
              <a:t>eq</a:t>
            </a:r>
            <a:r>
              <a:rPr lang="en-US" sz="2000" dirty="0" smtClean="0">
                <a:cs typeface="Courier New" pitchFamily="49" charset="0"/>
              </a:rPr>
              <a:t> "0" ]; then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cs typeface="Courier New" pitchFamily="49" charset="0"/>
              </a:rPr>
              <a:t>   echo "Income and Expenses are equal - breakeven."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 smtClean="0">
                <a:cs typeface="Courier New" pitchFamily="49" charset="0"/>
              </a:rPr>
              <a:t>elif</a:t>
            </a:r>
            <a:r>
              <a:rPr lang="en-US" sz="2000" dirty="0" smtClean="0">
                <a:cs typeface="Courier New" pitchFamily="49" charset="0"/>
              </a:rPr>
              <a:t> [ </a:t>
            </a:r>
            <a:r>
              <a:rPr lang="en-US" dirty="0" smtClean="0">
                <a:cs typeface="Courier New" pitchFamily="49" charset="0"/>
              </a:rPr>
              <a:t>"</a:t>
            </a:r>
            <a:r>
              <a:rPr lang="en-US" sz="2000" dirty="0" smtClean="0">
                <a:cs typeface="Courier New" pitchFamily="49" charset="0"/>
              </a:rPr>
              <a:t>$Net</a:t>
            </a:r>
            <a:r>
              <a:rPr lang="en-US" dirty="0" smtClean="0">
                <a:cs typeface="Courier New" pitchFamily="49" charset="0"/>
              </a:rPr>
              <a:t>"</a:t>
            </a:r>
            <a:r>
              <a:rPr lang="en-US" sz="2000" dirty="0" smtClean="0">
                <a:cs typeface="Courier New" pitchFamily="49" charset="0"/>
              </a:rPr>
              <a:t> -</a:t>
            </a:r>
            <a:r>
              <a:rPr lang="en-US" sz="2000" dirty="0" err="1" smtClean="0">
                <a:cs typeface="Courier New" pitchFamily="49" charset="0"/>
              </a:rPr>
              <a:t>gt</a:t>
            </a:r>
            <a:r>
              <a:rPr lang="en-US" sz="2000" dirty="0" smtClean="0">
                <a:cs typeface="Courier New" pitchFamily="49" charset="0"/>
              </a:rPr>
              <a:t> "0" ]; then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cs typeface="Courier New" pitchFamily="49" charset="0"/>
              </a:rPr>
              <a:t>   echo "Profit of: " $Net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cs typeface="Courier New" pitchFamily="49" charset="0"/>
              </a:rPr>
              <a:t>else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cs typeface="Courier New" pitchFamily="49" charset="0"/>
              </a:rPr>
              <a:t>   echo "Loss of: " $Net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cs typeface="Courier New" pitchFamily="49" charset="0"/>
              </a:rPr>
              <a:t>fi</a:t>
            </a:r>
          </a:p>
          <a:p>
            <a:pPr>
              <a:lnSpc>
                <a:spcPct val="80000"/>
              </a:lnSpc>
            </a:pPr>
            <a:endParaRPr lang="en-US" sz="2000" dirty="0" smtClean="0"/>
          </a:p>
        </p:txBody>
      </p:sp>
      <p:sp>
        <p:nvSpPr>
          <p:cNvPr id="31747" name="Slide Number Placeholder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9247C92C-25F6-4002-9AE2-560EB72015BE}" type="slidenum">
              <a:rPr lang="en-US"/>
              <a:pPr/>
              <a:t>25</a:t>
            </a:fld>
            <a:endParaRPr lang="en-US"/>
          </a:p>
        </p:txBody>
      </p:sp>
      <p:sp>
        <p:nvSpPr>
          <p:cNvPr id="31748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/>
              <a:t>CSCI 330 - The Unix System</a:t>
            </a:r>
          </a:p>
        </p:txBody>
      </p:sp>
    </p:spTree>
    <p:extLst>
      <p:ext uri="{BB962C8B-B14F-4D97-AF65-F5344CB8AC3E}">
        <p14:creationId xmlns:p14="http://schemas.microsoft.com/office/powerpoint/2010/main" val="25304887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-152400"/>
            <a:ext cx="7772400" cy="1143000"/>
          </a:xfrm>
        </p:spPr>
        <p:txBody>
          <a:bodyPr/>
          <a:lstStyle/>
          <a:p>
            <a:r>
              <a:rPr lang="en-US" b="1" dirty="0" smtClean="0"/>
              <a:t>While loop 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295400"/>
            <a:ext cx="8153400" cy="4724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E.g. 1:</a:t>
            </a:r>
          </a:p>
          <a:p>
            <a:pPr marL="0" indent="0">
              <a:buNone/>
            </a:pPr>
            <a:r>
              <a:rPr lang="en-US" dirty="0" smtClean="0"/>
              <a:t>valid=true</a:t>
            </a:r>
          </a:p>
          <a:p>
            <a:pPr marL="0" indent="0">
              <a:buNone/>
            </a:pPr>
            <a:r>
              <a:rPr lang="en-US" dirty="0" smtClean="0"/>
              <a:t>count=1</a:t>
            </a:r>
          </a:p>
          <a:p>
            <a:pPr marL="0" indent="0">
              <a:buNone/>
            </a:pPr>
            <a:r>
              <a:rPr lang="en-US" dirty="0" smtClean="0"/>
              <a:t>while </a:t>
            </a:r>
            <a:r>
              <a:rPr lang="en-US" dirty="0"/>
              <a:t>[ $valid </a:t>
            </a:r>
            <a:r>
              <a:rPr lang="en-US" dirty="0" smtClean="0"/>
              <a:t>]</a:t>
            </a:r>
          </a:p>
          <a:p>
            <a:pPr marL="0" indent="0">
              <a:buNone/>
            </a:pPr>
            <a:r>
              <a:rPr lang="en-US" dirty="0" smtClean="0"/>
              <a:t>do</a:t>
            </a:r>
          </a:p>
          <a:p>
            <a:pPr marL="0" indent="0">
              <a:buNone/>
            </a:pPr>
            <a:r>
              <a:rPr lang="en-US" dirty="0" smtClean="0"/>
              <a:t>	echo </a:t>
            </a:r>
            <a:r>
              <a:rPr lang="en-US" dirty="0"/>
              <a:t>$</a:t>
            </a:r>
            <a:r>
              <a:rPr lang="en-US" dirty="0" smtClean="0"/>
              <a:t>count</a:t>
            </a:r>
          </a:p>
          <a:p>
            <a:pPr marL="0" indent="0">
              <a:buNone/>
            </a:pPr>
            <a:r>
              <a:rPr lang="en-US" dirty="0" smtClean="0"/>
              <a:t>if </a:t>
            </a:r>
            <a:r>
              <a:rPr lang="en-US" dirty="0"/>
              <a:t>[ $count -</a:t>
            </a:r>
            <a:r>
              <a:rPr lang="en-US" dirty="0" err="1"/>
              <a:t>eq</a:t>
            </a:r>
            <a:r>
              <a:rPr lang="en-US" dirty="0"/>
              <a:t> 5 </a:t>
            </a:r>
            <a:r>
              <a:rPr lang="en-US" dirty="0" smtClean="0"/>
              <a:t>];</a:t>
            </a:r>
          </a:p>
          <a:p>
            <a:pPr marL="0" indent="0">
              <a:buNone/>
            </a:pPr>
            <a:r>
              <a:rPr lang="en-US" dirty="0"/>
              <a:t>t</a:t>
            </a:r>
            <a:r>
              <a:rPr lang="en-US" dirty="0" smtClean="0"/>
              <a:t>hen</a:t>
            </a:r>
          </a:p>
          <a:p>
            <a:pPr marL="0" indent="0">
              <a:buNone/>
            </a:pPr>
            <a:r>
              <a:rPr lang="en-US" dirty="0" smtClean="0"/>
              <a:t>	break</a:t>
            </a:r>
          </a:p>
          <a:p>
            <a:pPr marL="0" indent="0">
              <a:buNone/>
            </a:pPr>
            <a:r>
              <a:rPr lang="en-US" dirty="0" smtClean="0"/>
              <a:t>Fi</a:t>
            </a:r>
          </a:p>
          <a:p>
            <a:pPr marL="0" indent="0">
              <a:buNone/>
            </a:pPr>
            <a:r>
              <a:rPr lang="en-US" dirty="0" smtClean="0"/>
              <a:t>((</a:t>
            </a:r>
            <a:r>
              <a:rPr lang="en-US" dirty="0"/>
              <a:t>count</a:t>
            </a:r>
            <a:r>
              <a:rPr lang="en-US" dirty="0" smtClean="0"/>
              <a:t>++))</a:t>
            </a:r>
          </a:p>
          <a:p>
            <a:pPr marL="0" indent="0">
              <a:buNone/>
            </a:pPr>
            <a:r>
              <a:rPr lang="en-US" dirty="0" smtClean="0"/>
              <a:t>done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172200" y="457200"/>
            <a:ext cx="2514600" cy="2819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18000"/>
              </a:lnSpc>
              <a:spcBef>
                <a:spcPts val="1089"/>
              </a:spcBef>
              <a:spcAft>
                <a:spcPts val="907"/>
              </a:spcAft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000" b="1" u="sng" dirty="0" smtClean="0">
                <a:solidFill>
                  <a:srgbClr val="000000"/>
                </a:solidFill>
                <a:latin typeface="Times New Roman" pitchFamily="18" charset="0"/>
              </a:rPr>
              <a:t>while loop – syntax</a:t>
            </a:r>
            <a:r>
              <a:rPr lang="en-GB" sz="2000" b="1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</a:p>
          <a:p>
            <a:pPr>
              <a:lnSpc>
                <a:spcPct val="118000"/>
              </a:lnSpc>
              <a:spcBef>
                <a:spcPts val="1089"/>
              </a:spcBef>
              <a:spcAft>
                <a:spcPts val="907"/>
              </a:spcAft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000" dirty="0" smtClean="0">
                <a:solidFill>
                  <a:srgbClr val="000000"/>
                </a:solidFill>
                <a:latin typeface="Times New Roman" pitchFamily="18" charset="0"/>
              </a:rPr>
              <a:t>while [ condition ] </a:t>
            </a:r>
          </a:p>
          <a:p>
            <a:pPr>
              <a:lnSpc>
                <a:spcPct val="118000"/>
              </a:lnSpc>
              <a:spcBef>
                <a:spcPts val="1089"/>
              </a:spcBef>
              <a:spcAft>
                <a:spcPts val="907"/>
              </a:spcAft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000" dirty="0" smtClean="0">
                <a:solidFill>
                  <a:srgbClr val="000000"/>
                </a:solidFill>
                <a:latin typeface="Times New Roman" pitchFamily="18" charset="0"/>
              </a:rPr>
              <a:t>do </a:t>
            </a:r>
          </a:p>
          <a:p>
            <a:pPr>
              <a:lnSpc>
                <a:spcPct val="118000"/>
              </a:lnSpc>
              <a:spcBef>
                <a:spcPts val="1089"/>
              </a:spcBef>
              <a:spcAft>
                <a:spcPts val="907"/>
              </a:spcAft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000" dirty="0" smtClean="0">
                <a:solidFill>
                  <a:srgbClr val="000000"/>
                </a:solidFill>
                <a:latin typeface="Times New Roman" pitchFamily="18" charset="0"/>
              </a:rPr>
              <a:t>    code block; </a:t>
            </a:r>
          </a:p>
          <a:p>
            <a:pPr>
              <a:lnSpc>
                <a:spcPct val="118000"/>
              </a:lnSpc>
              <a:spcBef>
                <a:spcPts val="1089"/>
              </a:spcBef>
              <a:spcAft>
                <a:spcPts val="907"/>
              </a:spcAft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000" dirty="0" smtClean="0">
                <a:solidFill>
                  <a:srgbClr val="000000"/>
                </a:solidFill>
                <a:latin typeface="Times New Roman" pitchFamily="18" charset="0"/>
              </a:rPr>
              <a:t>done</a:t>
            </a: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Text Placeholder 3"/>
          <p:cNvSpPr txBox="1">
            <a:spLocks/>
          </p:cNvSpPr>
          <p:nvPr/>
        </p:nvSpPr>
        <p:spPr>
          <a:xfrm>
            <a:off x="3505200" y="3086100"/>
            <a:ext cx="3733800" cy="76200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Output : </a:t>
            </a:r>
            <a:endParaRPr lang="en-US" b="1" dirty="0"/>
          </a:p>
        </p:txBody>
      </p:sp>
      <p:sp>
        <p:nvSpPr>
          <p:cNvPr id="6" name="Content Placeholder 5"/>
          <p:cNvSpPr txBox="1">
            <a:spLocks/>
          </p:cNvSpPr>
          <p:nvPr/>
        </p:nvSpPr>
        <p:spPr>
          <a:xfrm>
            <a:off x="3505200" y="3886200"/>
            <a:ext cx="3733800" cy="388620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/>
              <a:buNone/>
            </a:pPr>
            <a:r>
              <a:rPr lang="en-US" dirty="0" smtClean="0"/>
              <a:t>0</a:t>
            </a:r>
          </a:p>
          <a:p>
            <a:pPr>
              <a:buFont typeface="Wingdings 2"/>
              <a:buNone/>
            </a:pPr>
            <a:r>
              <a:rPr lang="en-US" dirty="0" smtClean="0"/>
              <a:t>1 </a:t>
            </a:r>
          </a:p>
          <a:p>
            <a:pPr>
              <a:buFont typeface="Wingdings 2"/>
              <a:buNone/>
            </a:pPr>
            <a:r>
              <a:rPr lang="en-US" dirty="0" smtClean="0"/>
              <a:t>2</a:t>
            </a:r>
          </a:p>
          <a:p>
            <a:pPr>
              <a:buFont typeface="Wingdings 2"/>
              <a:buNone/>
            </a:pPr>
            <a:r>
              <a:rPr lang="en-US" dirty="0" smtClean="0"/>
              <a:t>3</a:t>
            </a:r>
          </a:p>
          <a:p>
            <a:pPr>
              <a:buFont typeface="Wingdings 2"/>
              <a:buNone/>
            </a:pPr>
            <a:r>
              <a:rPr lang="en-US" dirty="0" smtClean="0"/>
              <a:t>4</a:t>
            </a:r>
          </a:p>
          <a:p>
            <a:pPr>
              <a:buFont typeface="Wingdings 2"/>
              <a:buNone/>
            </a:pPr>
            <a:r>
              <a:rPr lang="en-US" dirty="0" smtClean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88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 Box 1"/>
          <p:cNvSpPr txBox="1">
            <a:spLocks noChangeArrowheads="1"/>
          </p:cNvSpPr>
          <p:nvPr/>
        </p:nvSpPr>
        <p:spPr bwMode="auto">
          <a:xfrm>
            <a:off x="533400" y="76200"/>
            <a:ext cx="7239000" cy="674900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81639" tIns="40820" rIns="81639" bIns="40820">
            <a:spAutoFit/>
          </a:bodyPr>
          <a:lstStyle/>
          <a:p>
            <a:pPr>
              <a:lnSpc>
                <a:spcPct val="118000"/>
              </a:lnSpc>
              <a:spcBef>
                <a:spcPts val="1089"/>
              </a:spcBef>
              <a:spcAft>
                <a:spcPts val="907"/>
              </a:spcAft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b="1" dirty="0" smtClean="0">
                <a:solidFill>
                  <a:srgbClr val="000000"/>
                </a:solidFill>
                <a:latin typeface="Times New Roman" pitchFamily="18" charset="0"/>
              </a:rPr>
              <a:t>E.g. 2 :</a:t>
            </a:r>
          </a:p>
          <a:p>
            <a:pPr>
              <a:lnSpc>
                <a:spcPct val="118000"/>
              </a:lnSpc>
              <a:spcBef>
                <a:spcPts val="1089"/>
              </a:spcBef>
              <a:spcAft>
                <a:spcPts val="907"/>
              </a:spcAft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dirty="0" smtClean="0">
                <a:solidFill>
                  <a:srgbClr val="000000"/>
                </a:solidFill>
                <a:latin typeface="Times New Roman" pitchFamily="18" charset="0"/>
              </a:rPr>
              <a:t>#while_ex.sh</a:t>
            </a: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lnSpc>
                <a:spcPct val="118000"/>
              </a:lnSpc>
              <a:spcBef>
                <a:spcPts val="1089"/>
              </a:spcBef>
              <a:spcAft>
                <a:spcPts val="907"/>
              </a:spcAft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verify="n"</a:t>
            </a:r>
          </a:p>
          <a:p>
            <a:pPr>
              <a:lnSpc>
                <a:spcPct val="118000"/>
              </a:lnSpc>
              <a:spcBef>
                <a:spcPts val="1089"/>
              </a:spcBef>
              <a:spcAft>
                <a:spcPts val="907"/>
              </a:spcAft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while [ "$verify" != y ]</a:t>
            </a:r>
          </a:p>
          <a:p>
            <a:pPr>
              <a:lnSpc>
                <a:spcPct val="118000"/>
              </a:lnSpc>
              <a:spcBef>
                <a:spcPts val="1089"/>
              </a:spcBef>
              <a:spcAft>
                <a:spcPts val="907"/>
              </a:spcAft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do</a:t>
            </a:r>
          </a:p>
          <a:p>
            <a:pPr>
              <a:lnSpc>
                <a:spcPct val="118000"/>
              </a:lnSpc>
              <a:spcBef>
                <a:spcPts val="1089"/>
              </a:spcBef>
              <a:spcAft>
                <a:spcPts val="907"/>
              </a:spcAft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   echo "Enter option: "</a:t>
            </a:r>
          </a:p>
          <a:p>
            <a:pPr>
              <a:lnSpc>
                <a:spcPct val="118000"/>
              </a:lnSpc>
              <a:spcBef>
                <a:spcPts val="1089"/>
              </a:spcBef>
              <a:spcAft>
                <a:spcPts val="907"/>
              </a:spcAft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   read option</a:t>
            </a:r>
          </a:p>
          <a:p>
            <a:pPr>
              <a:lnSpc>
                <a:spcPct val="118000"/>
              </a:lnSpc>
              <a:spcBef>
                <a:spcPts val="1089"/>
              </a:spcBef>
              <a:spcAft>
                <a:spcPts val="907"/>
              </a:spcAft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   echo "You entered $option.  Is this correct? (y/n)"</a:t>
            </a:r>
          </a:p>
          <a:p>
            <a:pPr>
              <a:lnSpc>
                <a:spcPct val="118000"/>
              </a:lnSpc>
              <a:spcBef>
                <a:spcPts val="1089"/>
              </a:spcBef>
              <a:spcAft>
                <a:spcPts val="907"/>
              </a:spcAft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   read verify</a:t>
            </a:r>
          </a:p>
          <a:p>
            <a:pPr>
              <a:lnSpc>
                <a:spcPct val="118000"/>
              </a:lnSpc>
              <a:spcBef>
                <a:spcPts val="1089"/>
              </a:spcBef>
              <a:spcAft>
                <a:spcPts val="907"/>
              </a:spcAft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done </a:t>
            </a:r>
          </a:p>
        </p:txBody>
      </p:sp>
    </p:spTree>
    <p:extLst>
      <p:ext uri="{BB962C8B-B14F-4D97-AF65-F5344CB8AC3E}">
        <p14:creationId xmlns:p14="http://schemas.microsoft.com/office/powerpoint/2010/main" val="39961510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half" idx="3"/>
          </p:nvPr>
        </p:nvSpPr>
        <p:spPr>
          <a:xfrm>
            <a:off x="4953000" y="990600"/>
            <a:ext cx="3733800" cy="762000"/>
          </a:xfrm>
        </p:spPr>
        <p:txBody>
          <a:bodyPr/>
          <a:lstStyle/>
          <a:p>
            <a:r>
              <a:rPr lang="en-US" smtClean="0"/>
              <a:t>Output 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1000" y="838200"/>
            <a:ext cx="4495800" cy="4724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/>
              <a:t>E.g. 3 :</a:t>
            </a:r>
          </a:p>
          <a:p>
            <a:pPr>
              <a:buNone/>
            </a:pPr>
            <a:r>
              <a:rPr lang="en-US" sz="2400" dirty="0" smtClean="0"/>
              <a:t>a=0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while [ "$a" -</a:t>
            </a:r>
            <a:r>
              <a:rPr lang="en-US" sz="2400" dirty="0" err="1" smtClean="0"/>
              <a:t>lt</a:t>
            </a:r>
            <a:r>
              <a:rPr lang="en-US" sz="2400" dirty="0" smtClean="0"/>
              <a:t> 10 ]  # this is loop1 </a:t>
            </a:r>
          </a:p>
          <a:p>
            <a:pPr>
              <a:buNone/>
            </a:pPr>
            <a:r>
              <a:rPr lang="en-US" sz="2400" dirty="0" smtClean="0"/>
              <a:t>do</a:t>
            </a:r>
          </a:p>
          <a:p>
            <a:pPr>
              <a:buNone/>
            </a:pPr>
            <a:r>
              <a:rPr lang="en-US" sz="2400" dirty="0" smtClean="0"/>
              <a:t>	b="$a" </a:t>
            </a:r>
          </a:p>
          <a:p>
            <a:pPr>
              <a:buNone/>
            </a:pPr>
            <a:r>
              <a:rPr lang="en-US" sz="2400" dirty="0" smtClean="0"/>
              <a:t>	while [ "$b" -</a:t>
            </a:r>
            <a:r>
              <a:rPr lang="en-US" sz="2400" dirty="0" err="1" smtClean="0"/>
              <a:t>ge</a:t>
            </a:r>
            <a:r>
              <a:rPr lang="en-US" sz="2400" dirty="0" smtClean="0"/>
              <a:t> 0 ]  # this is loop2 </a:t>
            </a:r>
          </a:p>
          <a:p>
            <a:pPr>
              <a:buNone/>
            </a:pPr>
            <a:r>
              <a:rPr lang="en-US" sz="2400" dirty="0" smtClean="0"/>
              <a:t>	do </a:t>
            </a:r>
          </a:p>
          <a:p>
            <a:pPr>
              <a:buNone/>
            </a:pPr>
            <a:r>
              <a:rPr lang="en-US" sz="2400" dirty="0" smtClean="0"/>
              <a:t>		echo -n "$b “</a:t>
            </a:r>
          </a:p>
          <a:p>
            <a:pPr>
              <a:buNone/>
            </a:pPr>
            <a:r>
              <a:rPr lang="en-US" sz="2400" dirty="0" smtClean="0"/>
              <a:t>		b= $b - 1</a:t>
            </a:r>
          </a:p>
          <a:p>
            <a:pPr>
              <a:buNone/>
            </a:pPr>
            <a:r>
              <a:rPr lang="en-US" sz="2400" dirty="0" smtClean="0"/>
              <a:t>    done </a:t>
            </a:r>
          </a:p>
          <a:p>
            <a:pPr>
              <a:buNone/>
            </a:pPr>
            <a:r>
              <a:rPr lang="en-US" sz="2400" dirty="0" smtClean="0"/>
              <a:t>	echo</a:t>
            </a:r>
          </a:p>
          <a:p>
            <a:pPr>
              <a:buNone/>
            </a:pPr>
            <a:r>
              <a:rPr lang="en-US" sz="2400" dirty="0" smtClean="0"/>
              <a:t>	 a= $a + 1</a:t>
            </a:r>
          </a:p>
          <a:p>
            <a:pPr>
              <a:buNone/>
            </a:pPr>
            <a:r>
              <a:rPr lang="en-US" sz="2400" dirty="0" smtClean="0"/>
              <a:t> done</a:t>
            </a:r>
            <a:endParaRPr lang="en-US" sz="2400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4"/>
          </p:nvPr>
        </p:nvSpPr>
        <p:spPr>
          <a:xfrm>
            <a:off x="4953000" y="1752600"/>
            <a:ext cx="3733800" cy="38862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0</a:t>
            </a:r>
          </a:p>
          <a:p>
            <a:pPr>
              <a:buNone/>
            </a:pPr>
            <a:r>
              <a:rPr lang="en-US" dirty="0" smtClean="0"/>
              <a:t>1 0</a:t>
            </a:r>
          </a:p>
          <a:p>
            <a:pPr>
              <a:buNone/>
            </a:pPr>
            <a:r>
              <a:rPr lang="en-US" dirty="0" smtClean="0"/>
              <a:t>2 1 0</a:t>
            </a:r>
          </a:p>
          <a:p>
            <a:pPr>
              <a:buNone/>
            </a:pPr>
            <a:r>
              <a:rPr lang="en-US" dirty="0" smtClean="0"/>
              <a:t>3 2 1 0 </a:t>
            </a:r>
          </a:p>
          <a:p>
            <a:pPr>
              <a:buNone/>
            </a:pPr>
            <a:r>
              <a:rPr lang="en-US" dirty="0" smtClean="0"/>
              <a:t>4 3 2 1 0 </a:t>
            </a:r>
          </a:p>
          <a:p>
            <a:pPr>
              <a:buNone/>
            </a:pPr>
            <a:r>
              <a:rPr lang="en-US" dirty="0" smtClean="0"/>
              <a:t>5 4 3 2 1 0 </a:t>
            </a:r>
          </a:p>
          <a:p>
            <a:pPr>
              <a:buNone/>
            </a:pPr>
            <a:r>
              <a:rPr lang="en-US" dirty="0" smtClean="0"/>
              <a:t>6 5 4 3 2 1 0 </a:t>
            </a:r>
          </a:p>
          <a:p>
            <a:pPr>
              <a:buNone/>
            </a:pPr>
            <a:r>
              <a:rPr lang="en-US" dirty="0" smtClean="0"/>
              <a:t>7 6 5 4 3 2 1 0</a:t>
            </a:r>
          </a:p>
          <a:p>
            <a:pPr>
              <a:buNone/>
            </a:pPr>
            <a:r>
              <a:rPr lang="en-US" dirty="0" smtClean="0"/>
              <a:t>8 7 6 5 4 3 2 1 0</a:t>
            </a:r>
          </a:p>
          <a:p>
            <a:pPr>
              <a:buNone/>
            </a:pPr>
            <a:r>
              <a:rPr lang="en-US" dirty="0" smtClean="0"/>
              <a:t>9 8 7 6 5 4 3 2 1 0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1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609600" y="2743200"/>
            <a:ext cx="7391400" cy="2077492"/>
          </a:xfrm>
          <a:prstGeom prst="rect">
            <a:avLst/>
          </a:prstGeom>
          <a:solidFill>
            <a:srgbClr val="F5F5F5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Menlo"/>
                <a:cs typeface="Arial" pitchFamily="34" charset="0"/>
              </a:rPr>
              <a:t>INPUT_STRING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Menlo"/>
                <a:cs typeface="Arial" pitchFamily="34" charset="0"/>
              </a:rPr>
              <a:t>=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Menlo"/>
                <a:cs typeface="Arial" pitchFamily="34" charset="0"/>
              </a:rPr>
              <a:t>hello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500" dirty="0">
              <a:solidFill>
                <a:srgbClr val="000000"/>
              </a:solidFill>
              <a:latin typeface="Menlo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Menlo"/>
                <a:cs typeface="Arial" pitchFamily="34" charset="0"/>
              </a:rPr>
              <a:t>while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Menlo"/>
                <a:cs typeface="Arial" pitchFamily="34" charset="0"/>
              </a:rPr>
              <a:t> 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Menlo"/>
                <a:cs typeface="Arial" pitchFamily="34" charset="0"/>
              </a:rPr>
              <a:t>[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Menlo"/>
                <a:cs typeface="Arial" pitchFamily="34" charset="0"/>
              </a:rPr>
              <a:t> 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8800"/>
                </a:solidFill>
                <a:effectLst/>
                <a:latin typeface="Menlo"/>
                <a:cs typeface="Arial" pitchFamily="34" charset="0"/>
              </a:rPr>
              <a:t>"$INPUT_STRING"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Menlo"/>
                <a:cs typeface="Arial" pitchFamily="34" charset="0"/>
              </a:rPr>
              <a:t> 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Menlo"/>
                <a:cs typeface="Arial" pitchFamily="34" charset="0"/>
              </a:rPr>
              <a:t>!=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Menlo"/>
                <a:cs typeface="Arial" pitchFamily="34" charset="0"/>
              </a:rPr>
              <a:t> 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8800"/>
                </a:solidFill>
                <a:effectLst/>
                <a:latin typeface="Menlo"/>
                <a:cs typeface="Arial" pitchFamily="34" charset="0"/>
              </a:rPr>
              <a:t>"bye"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Menlo"/>
                <a:cs typeface="Arial" pitchFamily="34" charset="0"/>
              </a:rPr>
              <a:t> 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Menlo"/>
                <a:cs typeface="Arial" pitchFamily="34" charset="0"/>
              </a:rPr>
              <a:t>]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Menlo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5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Menlo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Menlo"/>
                <a:cs typeface="Arial" pitchFamily="34" charset="0"/>
              </a:rPr>
              <a:t>	do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Menlo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500" dirty="0">
                <a:solidFill>
                  <a:srgbClr val="000000"/>
                </a:solidFill>
                <a:latin typeface="Menlo"/>
                <a:cs typeface="Arial" pitchFamily="34" charset="0"/>
              </a:rPr>
              <a:t>	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Menlo"/>
                <a:cs typeface="Arial" pitchFamily="34" charset="0"/>
              </a:rPr>
              <a:t>echo 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8800"/>
                </a:solidFill>
                <a:effectLst/>
                <a:latin typeface="Menlo"/>
                <a:cs typeface="Arial" pitchFamily="34" charset="0"/>
              </a:rPr>
              <a:t>"Please type something in (bye to quit)"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Menlo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Menlo"/>
                <a:cs typeface="Arial" pitchFamily="34" charset="0"/>
              </a:rPr>
              <a:t>	read INPUT_STRING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Menlo"/>
                <a:cs typeface="Arial" pitchFamily="34" charset="0"/>
              </a:rPr>
              <a:t>	echo 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8800"/>
                </a:solidFill>
                <a:effectLst/>
                <a:latin typeface="Menlo"/>
                <a:cs typeface="Arial" pitchFamily="34" charset="0"/>
              </a:rPr>
              <a:t>"You typed: $INPUT_STRING"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Menlo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Menlo"/>
                <a:cs typeface="Arial" pitchFamily="34" charset="0"/>
              </a:rPr>
              <a:t>	done</a:t>
            </a:r>
            <a: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6326" y="1447800"/>
            <a:ext cx="24806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b="1" dirty="0"/>
              <a:t>While </a:t>
            </a:r>
            <a:r>
              <a:rPr lang="en-US" sz="2400" b="1" dirty="0" smtClean="0"/>
              <a:t>Loop</a:t>
            </a:r>
          </a:p>
          <a:p>
            <a:pPr fontAlgn="base"/>
            <a:endParaRPr lang="en-US" sz="2400" b="1" dirty="0"/>
          </a:p>
          <a:p>
            <a:pPr fontAlgn="base"/>
            <a:r>
              <a:rPr lang="en-US" sz="2400" b="1" dirty="0" smtClean="0"/>
              <a:t>E.g. 4: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84614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7772400" cy="1143000"/>
          </a:xfrm>
        </p:spPr>
        <p:txBody>
          <a:bodyPr/>
          <a:lstStyle/>
          <a:p>
            <a:r>
              <a:rPr lang="en-US" b="1" dirty="0" smtClean="0"/>
              <a:t>For Loop 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(( counter=10; counter&gt;0; counter-- </a:t>
            </a:r>
            <a:r>
              <a:rPr lang="en-US" dirty="0" smtClean="0"/>
              <a:t>))</a:t>
            </a:r>
          </a:p>
          <a:p>
            <a:pPr marL="0" indent="0">
              <a:buNone/>
            </a:pPr>
            <a:r>
              <a:rPr lang="en-US" dirty="0"/>
              <a:t>d</a:t>
            </a:r>
            <a:r>
              <a:rPr lang="en-US" dirty="0" smtClean="0"/>
              <a:t>o</a:t>
            </a:r>
          </a:p>
          <a:p>
            <a:pPr marL="0" indent="0">
              <a:buNone/>
            </a:pPr>
            <a:r>
              <a:rPr lang="en-US" dirty="0" smtClean="0"/>
              <a:t>	echo </a:t>
            </a:r>
            <a:r>
              <a:rPr lang="en-US" dirty="0"/>
              <a:t>-n "$</a:t>
            </a:r>
            <a:r>
              <a:rPr lang="en-US" dirty="0" smtClean="0"/>
              <a:t>counter” </a:t>
            </a:r>
          </a:p>
          <a:p>
            <a:pPr marL="0" indent="0">
              <a:buNone/>
            </a:pPr>
            <a:r>
              <a:rPr lang="en-US" dirty="0" smtClean="0"/>
              <a:t>done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513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3050"/>
            <a:ext cx="7772400" cy="1143000"/>
          </a:xfrm>
        </p:spPr>
        <p:txBody>
          <a:bodyPr/>
          <a:lstStyle/>
          <a:p>
            <a:r>
              <a:rPr lang="en-US" b="1" dirty="0" smtClean="0"/>
              <a:t>Arrays :</a:t>
            </a:r>
            <a:endParaRPr lang="en-US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US" dirty="0" smtClean="0"/>
              <a:t>Output :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914400" y="1524000"/>
            <a:ext cx="3733800" cy="46101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NUMS="1 2 3 4 5 6 7“</a:t>
            </a:r>
          </a:p>
          <a:p>
            <a:pPr>
              <a:buNone/>
            </a:pP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for NUM in $NUMS </a:t>
            </a:r>
          </a:p>
          <a:p>
            <a:pPr>
              <a:buNone/>
            </a:pPr>
            <a:r>
              <a:rPr lang="en-US" dirty="0" smtClean="0"/>
              <a:t>do </a:t>
            </a:r>
          </a:p>
          <a:p>
            <a:pPr>
              <a:buNone/>
            </a:pPr>
            <a:r>
              <a:rPr lang="en-US" dirty="0" smtClean="0"/>
              <a:t>	Q= $NUM % 2</a:t>
            </a:r>
          </a:p>
          <a:p>
            <a:pPr>
              <a:buNone/>
            </a:pPr>
            <a:r>
              <a:rPr lang="en-US" dirty="0" smtClean="0"/>
              <a:t>	 if [ $Q -</a:t>
            </a:r>
            <a:r>
              <a:rPr lang="en-US" dirty="0" err="1" smtClean="0"/>
              <a:t>eq</a:t>
            </a:r>
            <a:r>
              <a:rPr lang="en-US" dirty="0" smtClean="0"/>
              <a:t> 0 ] then </a:t>
            </a:r>
          </a:p>
          <a:p>
            <a:pPr>
              <a:buNone/>
            </a:pPr>
            <a:r>
              <a:rPr lang="en-US" dirty="0" smtClean="0"/>
              <a:t>		echo “Even number!!" </a:t>
            </a:r>
          </a:p>
          <a:p>
            <a:pPr>
              <a:buNone/>
            </a:pPr>
            <a:r>
              <a:rPr lang="en-US" dirty="0" smtClean="0"/>
              <a:t>		continue</a:t>
            </a:r>
          </a:p>
          <a:p>
            <a:pPr>
              <a:buNone/>
            </a:pPr>
            <a:r>
              <a:rPr lang="en-US" dirty="0" smtClean="0"/>
              <a:t>	 </a:t>
            </a:r>
            <a:r>
              <a:rPr lang="en-US" dirty="0" err="1" smtClean="0"/>
              <a:t>fi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echo “Odd number" </a:t>
            </a:r>
          </a:p>
          <a:p>
            <a:pPr>
              <a:buNone/>
            </a:pPr>
            <a:r>
              <a:rPr lang="en-US" dirty="0" smtClean="0"/>
              <a:t>done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4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 Odd number</a:t>
            </a:r>
          </a:p>
          <a:p>
            <a:pPr>
              <a:buNone/>
            </a:pPr>
            <a:r>
              <a:rPr lang="en-US" dirty="0" smtClean="0"/>
              <a:t>     Even number!! </a:t>
            </a:r>
          </a:p>
          <a:p>
            <a:pPr>
              <a:buNone/>
            </a:pPr>
            <a:r>
              <a:rPr lang="en-US" dirty="0" smtClean="0"/>
              <a:t>     Odd number</a:t>
            </a:r>
          </a:p>
          <a:p>
            <a:pPr>
              <a:buNone/>
            </a:pPr>
            <a:r>
              <a:rPr lang="en-US" dirty="0" smtClean="0"/>
              <a:t>     Even number!! </a:t>
            </a:r>
          </a:p>
          <a:p>
            <a:pPr>
              <a:buNone/>
            </a:pPr>
            <a:r>
              <a:rPr lang="en-US" dirty="0" smtClean="0"/>
              <a:t>     Odd number </a:t>
            </a:r>
          </a:p>
          <a:p>
            <a:pPr>
              <a:buNone/>
            </a:pPr>
            <a:r>
              <a:rPr lang="en-US" dirty="0" smtClean="0"/>
              <a:t>     Even number!!</a:t>
            </a:r>
          </a:p>
          <a:p>
            <a:pPr>
              <a:buNone/>
            </a:pPr>
            <a:r>
              <a:rPr lang="en-US" dirty="0" smtClean="0"/>
              <a:t>     Odd number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#!/bin/</a:t>
            </a:r>
            <a:r>
              <a:rPr lang="en-US" dirty="0" err="1" smtClean="0"/>
              <a:t>sh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NUMS="1 2 3 4 5 6 7"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for NUM in $NUMS</a:t>
            </a:r>
            <a:br>
              <a:rPr lang="en-US" dirty="0" smtClean="0"/>
            </a:br>
            <a:r>
              <a:rPr lang="en-US" dirty="0" smtClean="0"/>
              <a:t>do</a:t>
            </a:r>
            <a:br>
              <a:rPr lang="en-US" dirty="0" smtClean="0"/>
            </a:br>
            <a:r>
              <a:rPr lang="en-US" dirty="0" smtClean="0"/>
              <a:t>   Q=`</a:t>
            </a:r>
            <a:r>
              <a:rPr lang="en-US" dirty="0" err="1" smtClean="0"/>
              <a:t>expr</a:t>
            </a:r>
            <a:r>
              <a:rPr lang="en-US" dirty="0" smtClean="0"/>
              <a:t> $NUM % 2`</a:t>
            </a:r>
            <a:br>
              <a:rPr lang="en-US" dirty="0" smtClean="0"/>
            </a:br>
            <a:r>
              <a:rPr lang="en-US" dirty="0" smtClean="0"/>
              <a:t>   if [ $Q -</a:t>
            </a:r>
            <a:r>
              <a:rPr lang="en-US" dirty="0" err="1" smtClean="0"/>
              <a:t>eq</a:t>
            </a:r>
            <a:r>
              <a:rPr lang="en-US" dirty="0" smtClean="0"/>
              <a:t> 0 ]</a:t>
            </a:r>
            <a:br>
              <a:rPr lang="en-US" dirty="0" smtClean="0"/>
            </a:br>
            <a:r>
              <a:rPr lang="en-US" dirty="0" smtClean="0"/>
              <a:t>   then</a:t>
            </a:r>
            <a:br>
              <a:rPr lang="en-US" dirty="0" smtClean="0"/>
            </a:br>
            <a:r>
              <a:rPr lang="en-US" dirty="0" smtClean="0"/>
              <a:t>      echo "$NUM is an Even number!!"</a:t>
            </a:r>
            <a:br>
              <a:rPr lang="en-US" dirty="0" smtClean="0"/>
            </a:br>
            <a:r>
              <a:rPr lang="en-US" dirty="0" smtClean="0"/>
              <a:t>      continue</a:t>
            </a:r>
            <a:br>
              <a:rPr lang="en-US" dirty="0" smtClean="0"/>
            </a:br>
            <a:r>
              <a:rPr lang="en-US" dirty="0" smtClean="0"/>
              <a:t>   </a:t>
            </a:r>
            <a:r>
              <a:rPr lang="en-US" dirty="0" err="1" smtClean="0"/>
              <a:t>fi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   echo "$NUM is an Odd number"</a:t>
            </a:r>
            <a:br>
              <a:rPr lang="en-US" dirty="0" smtClean="0"/>
            </a:br>
            <a:r>
              <a:rPr lang="en-US" dirty="0" smtClean="0"/>
              <a:t>done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7" name="Content Placeholder 5"/>
          <p:cNvSpPr>
            <a:spLocks noGrp="1"/>
          </p:cNvSpPr>
          <p:nvPr>
            <p:ph sz="half" idx="4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1  is an Odd number</a:t>
            </a:r>
          </a:p>
          <a:p>
            <a:pPr>
              <a:buNone/>
            </a:pPr>
            <a:r>
              <a:rPr lang="en-US" dirty="0" smtClean="0"/>
              <a:t>2  is an  Even number!! </a:t>
            </a:r>
          </a:p>
          <a:p>
            <a:pPr>
              <a:buNone/>
            </a:pPr>
            <a:r>
              <a:rPr lang="en-US" dirty="0" smtClean="0"/>
              <a:t>3  is an  Odd number</a:t>
            </a:r>
          </a:p>
          <a:p>
            <a:pPr>
              <a:buNone/>
            </a:pPr>
            <a:r>
              <a:rPr lang="en-US" dirty="0" smtClean="0"/>
              <a:t>4  is an  Even number!! </a:t>
            </a:r>
          </a:p>
          <a:p>
            <a:pPr>
              <a:buNone/>
            </a:pPr>
            <a:r>
              <a:rPr lang="en-US" dirty="0" smtClean="0"/>
              <a:t>5  is an  Odd number </a:t>
            </a:r>
          </a:p>
          <a:p>
            <a:pPr>
              <a:buNone/>
            </a:pPr>
            <a:r>
              <a:rPr lang="en-US" dirty="0" smtClean="0"/>
              <a:t>6  is an  Even number!!</a:t>
            </a:r>
          </a:p>
          <a:p>
            <a:pPr>
              <a:buNone/>
            </a:pPr>
            <a:r>
              <a:rPr lang="en-US" dirty="0" smtClean="0"/>
              <a:t>7  is an  Odd number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Functions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E.g. 1:</a:t>
            </a:r>
          </a:p>
          <a:p>
            <a:pPr lvl="1">
              <a:buNone/>
            </a:pPr>
            <a:r>
              <a:rPr lang="en-US" dirty="0" smtClean="0"/>
              <a:t>function </a:t>
            </a:r>
            <a:r>
              <a:rPr lang="en-US" dirty="0" err="1" smtClean="0"/>
              <a:t>disp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{</a:t>
            </a:r>
          </a:p>
          <a:p>
            <a:pPr lvl="1">
              <a:buNone/>
            </a:pPr>
            <a:r>
              <a:rPr lang="en-US" dirty="0" smtClean="0"/>
              <a:t>		echo “Hello World !!”</a:t>
            </a:r>
          </a:p>
          <a:p>
            <a:pPr lvl="1">
              <a:buNone/>
            </a:pPr>
            <a:r>
              <a:rPr lang="en-US" dirty="0" smtClean="0"/>
              <a:t>}</a:t>
            </a:r>
          </a:p>
          <a:p>
            <a:pPr lvl="1">
              <a:buNone/>
            </a:pPr>
            <a:r>
              <a:rPr lang="en-US" dirty="0" err="1" smtClean="0"/>
              <a:t>disp</a:t>
            </a: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O/p: </a:t>
            </a:r>
            <a:r>
              <a:rPr lang="en-US" dirty="0" smtClean="0">
                <a:solidFill>
                  <a:schemeClr val="accent2"/>
                </a:solidFill>
              </a:rPr>
              <a:t> Hello World!!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quarter" idx="2"/>
          </p:nvPr>
        </p:nvSpPr>
        <p:spPr>
          <a:xfrm>
            <a:off x="4933950" y="685800"/>
            <a:ext cx="3749040" cy="53340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E.g. 2:</a:t>
            </a:r>
          </a:p>
          <a:p>
            <a:pPr>
              <a:buNone/>
            </a:pPr>
            <a:endParaRPr lang="en-US" b="1" dirty="0" smtClean="0"/>
          </a:p>
          <a:p>
            <a:pPr lvl="1">
              <a:buNone/>
            </a:pPr>
            <a:r>
              <a:rPr lang="en-US" dirty="0" smtClean="0"/>
              <a:t>function </a:t>
            </a:r>
            <a:r>
              <a:rPr lang="en-US" dirty="0" err="1" smtClean="0"/>
              <a:t>disp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{</a:t>
            </a:r>
          </a:p>
          <a:p>
            <a:pPr lvl="1">
              <a:buNone/>
            </a:pPr>
            <a:r>
              <a:rPr lang="en-US" dirty="0" smtClean="0"/>
              <a:t>		echo “Hello World !!”</a:t>
            </a:r>
          </a:p>
          <a:p>
            <a:pPr lvl="1">
              <a:buNone/>
            </a:pPr>
            <a:r>
              <a:rPr lang="en-US" dirty="0" smtClean="0"/>
              <a:t>}</a:t>
            </a:r>
          </a:p>
          <a:p>
            <a:pPr lvl="1">
              <a:buNone/>
            </a:pPr>
            <a:r>
              <a:rPr lang="en-US" dirty="0" err="1" smtClean="0"/>
              <a:t>i</a:t>
            </a:r>
            <a:r>
              <a:rPr lang="en-US" dirty="0" smtClean="0"/>
              <a:t>=1</a:t>
            </a:r>
          </a:p>
          <a:p>
            <a:pPr lvl="1">
              <a:buNone/>
            </a:pPr>
            <a:r>
              <a:rPr lang="en-US" dirty="0" smtClean="0"/>
              <a:t>while((</a:t>
            </a:r>
            <a:r>
              <a:rPr lang="en-US" dirty="0" err="1" smtClean="0"/>
              <a:t>i</a:t>
            </a:r>
            <a:r>
              <a:rPr lang="en-US" dirty="0" smtClean="0"/>
              <a:t>&lt;=3))</a:t>
            </a:r>
          </a:p>
          <a:p>
            <a:pPr lvl="1">
              <a:buNone/>
            </a:pPr>
            <a:r>
              <a:rPr lang="en-US" dirty="0" smtClean="0"/>
              <a:t>do</a:t>
            </a:r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dirty="0" err="1" smtClean="0"/>
              <a:t>disp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dirty="0" err="1" smtClean="0"/>
              <a:t>i</a:t>
            </a:r>
            <a:r>
              <a:rPr lang="en-US" dirty="0" smtClean="0"/>
              <a:t>=i+1</a:t>
            </a:r>
          </a:p>
          <a:p>
            <a:pPr lvl="1">
              <a:buNone/>
            </a:pPr>
            <a:r>
              <a:rPr lang="en-US" dirty="0" smtClean="0"/>
              <a:t>done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O/p</a:t>
            </a:r>
            <a:r>
              <a:rPr lang="en-US" dirty="0" smtClean="0">
                <a:solidFill>
                  <a:schemeClr val="accent2"/>
                </a:solidFill>
              </a:rPr>
              <a:t>:  Hello World!!</a:t>
            </a:r>
          </a:p>
          <a:p>
            <a:pPr lvl="1">
              <a:buNone/>
            </a:pPr>
            <a:r>
              <a:rPr lang="en-US" dirty="0" smtClean="0">
                <a:solidFill>
                  <a:schemeClr val="accent2"/>
                </a:solidFill>
              </a:rPr>
              <a:t>		Hello World!!</a:t>
            </a:r>
          </a:p>
          <a:p>
            <a:pPr lvl="1">
              <a:buNone/>
            </a:pPr>
            <a:r>
              <a:rPr lang="en-US" dirty="0" smtClean="0">
                <a:solidFill>
                  <a:schemeClr val="accent2"/>
                </a:solidFill>
              </a:rPr>
              <a:t>		Hello World!!</a:t>
            </a: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1371600"/>
            <a:ext cx="82296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 smtClean="0"/>
              <a:t>Write a shell programs to</a:t>
            </a:r>
          </a:p>
          <a:p>
            <a:pPr marL="274320" lvl="1" indent="0">
              <a:buNone/>
            </a:pPr>
            <a:r>
              <a:rPr lang="en-IN" dirty="0" smtClean="0"/>
              <a:t>1. Add </a:t>
            </a:r>
            <a:r>
              <a:rPr lang="en-IN" dirty="0"/>
              <a:t>2 </a:t>
            </a:r>
            <a:r>
              <a:rPr lang="en-IN" dirty="0" smtClean="0"/>
              <a:t>numbers</a:t>
            </a:r>
          </a:p>
          <a:p>
            <a:pPr marL="274320" lvl="1" indent="0">
              <a:buNone/>
            </a:pPr>
            <a:r>
              <a:rPr lang="en-IN" dirty="0" smtClean="0"/>
              <a:t>2. Check </a:t>
            </a:r>
            <a:r>
              <a:rPr lang="en-IN" dirty="0"/>
              <a:t>if a </a:t>
            </a:r>
            <a:r>
              <a:rPr lang="en-IN" dirty="0" smtClean="0"/>
              <a:t>number entered </a:t>
            </a:r>
            <a:r>
              <a:rPr lang="en-IN" dirty="0"/>
              <a:t>is even and </a:t>
            </a:r>
            <a:r>
              <a:rPr lang="en-IN" dirty="0" smtClean="0"/>
              <a:t>odd</a:t>
            </a:r>
          </a:p>
          <a:p>
            <a:pPr marL="274320" lvl="1" indent="0">
              <a:buNone/>
            </a:pPr>
            <a:r>
              <a:rPr lang="en-IN" dirty="0" smtClean="0"/>
              <a:t>3. Find </a:t>
            </a:r>
            <a:r>
              <a:rPr lang="en-IN" dirty="0"/>
              <a:t>sum of n </a:t>
            </a:r>
            <a:r>
              <a:rPr lang="en-IN" dirty="0" smtClean="0"/>
              <a:t>numbers</a:t>
            </a:r>
          </a:p>
          <a:p>
            <a:pPr lvl="1">
              <a:buFont typeface="Wingdings" pitchFamily="2" charset="2"/>
              <a:buNone/>
            </a:pPr>
            <a:r>
              <a:rPr lang="en-US" dirty="0" smtClean="0">
                <a:cs typeface="Times New Roman" pitchFamily="18" charset="0"/>
              </a:rPr>
              <a:t>4. Determine </a:t>
            </a:r>
            <a:r>
              <a:rPr lang="en-US" dirty="0">
                <a:cs typeface="Times New Roman" pitchFamily="18" charset="0"/>
              </a:rPr>
              <a:t>if a person is eligible to vote or not </a:t>
            </a:r>
            <a:endParaRPr lang="en-US" dirty="0" smtClean="0">
              <a:cs typeface="Times New Roman" pitchFamily="18" charset="0"/>
            </a:endParaRPr>
          </a:p>
          <a:p>
            <a:pPr lvl="1">
              <a:buNone/>
            </a:pPr>
            <a:r>
              <a:rPr lang="en-IN" dirty="0"/>
              <a:t>5. </a:t>
            </a:r>
            <a:r>
              <a:rPr lang="en-IN" dirty="0" smtClean="0"/>
              <a:t>Display </a:t>
            </a:r>
            <a:r>
              <a:rPr lang="en-IN" dirty="0"/>
              <a:t>all filenames beginning </a:t>
            </a:r>
            <a:r>
              <a:rPr lang="en-IN" dirty="0" smtClean="0"/>
              <a:t>with character ‘a’ </a:t>
            </a:r>
            <a:r>
              <a:rPr lang="en-IN" dirty="0"/>
              <a:t>and displays its </a:t>
            </a:r>
            <a:r>
              <a:rPr lang="en-IN" dirty="0" smtClean="0"/>
              <a:t>contents</a:t>
            </a:r>
          </a:p>
          <a:p>
            <a:pPr lvl="1">
              <a:buNone/>
            </a:pPr>
            <a:r>
              <a:rPr lang="en-IN" dirty="0" smtClean="0"/>
              <a:t>6. Find Factorial </a:t>
            </a:r>
            <a:r>
              <a:rPr lang="en-IN" dirty="0"/>
              <a:t>of a </a:t>
            </a:r>
            <a:r>
              <a:rPr lang="en-IN" dirty="0" smtClean="0"/>
              <a:t>number</a:t>
            </a:r>
          </a:p>
          <a:p>
            <a:pPr lvl="1">
              <a:buNone/>
            </a:pPr>
            <a:r>
              <a:rPr lang="en-US" dirty="0"/>
              <a:t>7. </a:t>
            </a:r>
            <a:r>
              <a:rPr lang="en-US" dirty="0" smtClean="0"/>
              <a:t>Check </a:t>
            </a:r>
            <a:r>
              <a:rPr lang="en-US" dirty="0"/>
              <a:t>validity of a </a:t>
            </a:r>
            <a:r>
              <a:rPr lang="en-US" dirty="0" smtClean="0"/>
              <a:t>username and password </a:t>
            </a:r>
            <a:r>
              <a:rPr lang="en-US" dirty="0"/>
              <a:t>with a function defined in the code  </a:t>
            </a:r>
            <a:endParaRPr lang="en-IN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Font typeface="Wingdings" pitchFamily="2" charset="2"/>
              <a:buNone/>
            </a:pPr>
            <a:endParaRPr lang="en-US" sz="2800" dirty="0"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sz="2800" dirty="0">
              <a:cs typeface="Times New Roman" pitchFamily="18" charset="0"/>
            </a:endParaRP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IN" sz="280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7772400" cy="1143000"/>
          </a:xfrm>
        </p:spPr>
        <p:txBody>
          <a:bodyPr/>
          <a:lstStyle/>
          <a:p>
            <a:r>
              <a:rPr lang="en-US" b="1" dirty="0" smtClean="0"/>
              <a:t>Lab Assignments: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1711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b="1" dirty="0"/>
              <a:t>1. </a:t>
            </a:r>
            <a:r>
              <a:rPr lang="en-IN" b="1" dirty="0" smtClean="0"/>
              <a:t>Program </a:t>
            </a:r>
            <a:r>
              <a:rPr lang="en-IN" b="1" dirty="0"/>
              <a:t>to add 2 </a:t>
            </a:r>
            <a:r>
              <a:rPr lang="en-IN" b="1" dirty="0" err="1"/>
              <a:t>nos</a:t>
            </a:r>
            <a:endParaRPr lang="en-US" dirty="0"/>
          </a:p>
          <a:p>
            <a:pPr>
              <a:buNone/>
            </a:pPr>
            <a:r>
              <a:rPr lang="en-IN" dirty="0"/>
              <a:t> </a:t>
            </a:r>
            <a:endParaRPr lang="en-US" dirty="0"/>
          </a:p>
          <a:p>
            <a:pPr>
              <a:buNone/>
            </a:pPr>
            <a:r>
              <a:rPr lang="en-IN" dirty="0"/>
              <a:t>echo enter a</a:t>
            </a:r>
            <a:endParaRPr lang="en-US" dirty="0"/>
          </a:p>
          <a:p>
            <a:pPr>
              <a:buNone/>
            </a:pPr>
            <a:r>
              <a:rPr lang="en-IN" dirty="0"/>
              <a:t> </a:t>
            </a:r>
            <a:endParaRPr lang="en-US" dirty="0"/>
          </a:p>
          <a:p>
            <a:pPr>
              <a:buNone/>
            </a:pPr>
            <a:r>
              <a:rPr lang="en-IN" dirty="0"/>
              <a:t>read a</a:t>
            </a:r>
            <a:endParaRPr lang="en-US" dirty="0"/>
          </a:p>
          <a:p>
            <a:pPr>
              <a:buNone/>
            </a:pPr>
            <a:r>
              <a:rPr lang="en-IN" dirty="0"/>
              <a:t> </a:t>
            </a:r>
            <a:endParaRPr lang="en-US" dirty="0"/>
          </a:p>
          <a:p>
            <a:pPr>
              <a:buNone/>
            </a:pPr>
            <a:r>
              <a:rPr lang="en-IN" dirty="0"/>
              <a:t>echo enter b</a:t>
            </a:r>
            <a:endParaRPr lang="en-US" dirty="0"/>
          </a:p>
          <a:p>
            <a:pPr>
              <a:buNone/>
            </a:pPr>
            <a:r>
              <a:rPr lang="en-IN" dirty="0"/>
              <a:t> </a:t>
            </a:r>
            <a:endParaRPr lang="en-US" dirty="0"/>
          </a:p>
          <a:p>
            <a:pPr>
              <a:buNone/>
            </a:pPr>
            <a:r>
              <a:rPr lang="en-IN" dirty="0"/>
              <a:t>read b</a:t>
            </a:r>
            <a:endParaRPr lang="en-US" dirty="0"/>
          </a:p>
          <a:p>
            <a:pPr>
              <a:buNone/>
            </a:pPr>
            <a:r>
              <a:rPr lang="en-IN" dirty="0"/>
              <a:t> </a:t>
            </a:r>
            <a:endParaRPr lang="en-US" dirty="0"/>
          </a:p>
          <a:p>
            <a:pPr>
              <a:buNone/>
            </a:pPr>
            <a:r>
              <a:rPr lang="en-IN" dirty="0"/>
              <a:t>s=$((a + b))</a:t>
            </a:r>
            <a:endParaRPr lang="en-US" dirty="0"/>
          </a:p>
          <a:p>
            <a:pPr>
              <a:buNone/>
            </a:pPr>
            <a:r>
              <a:rPr lang="en-IN" dirty="0"/>
              <a:t> </a:t>
            </a:r>
            <a:endParaRPr lang="en-US" dirty="0"/>
          </a:p>
          <a:p>
            <a:pPr>
              <a:buNone/>
            </a:pPr>
            <a:r>
              <a:rPr lang="en-IN" dirty="0"/>
              <a:t>echo sum is $s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4953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2400" b="1" dirty="0"/>
              <a:t>2. </a:t>
            </a:r>
            <a:r>
              <a:rPr lang="en-IN" sz="2400" b="1" dirty="0"/>
              <a:t>P</a:t>
            </a:r>
            <a:r>
              <a:rPr lang="en-IN" sz="2400" b="1" dirty="0" smtClean="0"/>
              <a:t>rogram </a:t>
            </a:r>
            <a:r>
              <a:rPr lang="en-IN" sz="2400" b="1" dirty="0"/>
              <a:t>to </a:t>
            </a:r>
            <a:r>
              <a:rPr lang="en-IN" sz="2400" b="1" dirty="0" smtClean="0"/>
              <a:t>check if a number is </a:t>
            </a:r>
            <a:r>
              <a:rPr lang="en-IN" sz="2400" b="1" dirty="0"/>
              <a:t>even and odd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 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echo enter a number 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 </a:t>
            </a:r>
            <a:r>
              <a:rPr lang="en-IN" sz="2400" dirty="0" smtClean="0"/>
              <a:t>read </a:t>
            </a:r>
            <a:r>
              <a:rPr lang="en-IN" sz="2400" dirty="0"/>
              <a:t>n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 </a:t>
            </a:r>
            <a:endParaRPr lang="en-US" sz="2400" dirty="0"/>
          </a:p>
          <a:p>
            <a:pPr>
              <a:buNone/>
            </a:pPr>
            <a:r>
              <a:rPr lang="en-IN" sz="2400" dirty="0" err="1"/>
              <a:t>rem</a:t>
            </a:r>
            <a:r>
              <a:rPr lang="en-IN" sz="2400" dirty="0"/>
              <a:t>=$(( $n % 2 ))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 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if [ $rem -</a:t>
            </a:r>
            <a:r>
              <a:rPr lang="en-IN" sz="2400" dirty="0" err="1"/>
              <a:t>eq</a:t>
            </a:r>
            <a:r>
              <a:rPr lang="en-IN" sz="2400" dirty="0"/>
              <a:t> 0 </a:t>
            </a:r>
            <a:r>
              <a:rPr lang="en-IN" sz="2400" dirty="0" smtClean="0"/>
              <a:t>]</a:t>
            </a:r>
            <a:r>
              <a:rPr lang="en-IN" sz="2400" dirty="0"/>
              <a:t> </a:t>
            </a:r>
            <a:r>
              <a:rPr lang="en-IN" sz="2400" dirty="0" smtClean="0"/>
              <a:t>then</a:t>
            </a:r>
          </a:p>
          <a:p>
            <a:pPr>
              <a:buNone/>
            </a:pPr>
            <a:r>
              <a:rPr lang="en-IN" sz="2400" dirty="0" smtClean="0"/>
              <a:t> 		echo </a:t>
            </a:r>
            <a:r>
              <a:rPr lang="en-IN" sz="2400" dirty="0"/>
              <a:t>$n is even 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 </a:t>
            </a:r>
            <a:r>
              <a:rPr lang="en-IN" sz="2400" dirty="0" smtClean="0"/>
              <a:t>else </a:t>
            </a:r>
            <a:endParaRPr lang="en-US" sz="2400" dirty="0"/>
          </a:p>
          <a:p>
            <a:pPr>
              <a:buNone/>
            </a:pPr>
            <a:r>
              <a:rPr lang="en-IN" sz="2400" dirty="0" smtClean="0"/>
              <a:t>		echo </a:t>
            </a:r>
            <a:r>
              <a:rPr lang="en-IN" sz="2400" dirty="0"/>
              <a:t>$n is odd</a:t>
            </a:r>
            <a:endParaRPr lang="en-US" sz="2400" dirty="0"/>
          </a:p>
          <a:p>
            <a:pPr>
              <a:buNone/>
            </a:pPr>
            <a:r>
              <a:rPr lang="en-IN" sz="2400" dirty="0" smtClean="0"/>
              <a:t>fi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 </a:t>
            </a: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838200"/>
            <a:ext cx="7772400" cy="4572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2400" b="1" dirty="0"/>
              <a:t>3. </a:t>
            </a:r>
            <a:r>
              <a:rPr lang="en-IN" sz="2400" b="1" dirty="0" smtClean="0"/>
              <a:t>Program to find sum </a:t>
            </a:r>
            <a:r>
              <a:rPr lang="en-IN" sz="2400" b="1" dirty="0"/>
              <a:t>of n numbers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 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a=1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echo " enter n"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read n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s=0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while [ $a -le $n ]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do</a:t>
            </a:r>
            <a:endParaRPr lang="en-US" sz="2400" dirty="0"/>
          </a:p>
          <a:p>
            <a:pPr>
              <a:buNone/>
            </a:pPr>
            <a:r>
              <a:rPr lang="en-IN" sz="2400" dirty="0" smtClean="0"/>
              <a:t>		s</a:t>
            </a:r>
            <a:r>
              <a:rPr lang="en-IN" sz="2400" dirty="0"/>
              <a:t>=$((s + a))</a:t>
            </a:r>
            <a:endParaRPr lang="en-US" sz="2400" dirty="0"/>
          </a:p>
          <a:p>
            <a:pPr>
              <a:buNone/>
            </a:pPr>
            <a:r>
              <a:rPr lang="en-IN" sz="2400" dirty="0" smtClean="0"/>
              <a:t>		a</a:t>
            </a:r>
            <a:r>
              <a:rPr lang="en-IN" sz="2400" dirty="0"/>
              <a:t>=$((a + 1))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done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echo " SUM is " $s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 </a:t>
            </a:r>
            <a:endParaRPr lang="en-US" sz="2400" dirty="0"/>
          </a:p>
          <a:p>
            <a:pPr>
              <a:buNone/>
            </a:pPr>
            <a:r>
              <a:rPr lang="en-IN" sz="2400" b="1" dirty="0"/>
              <a:t> </a:t>
            </a:r>
            <a:endParaRPr lang="en-US" sz="2400" dirty="0"/>
          </a:p>
          <a:p>
            <a:pPr>
              <a:buNone/>
            </a:pPr>
            <a:r>
              <a:rPr lang="en-IN" sz="2400" b="1" dirty="0"/>
              <a:t> </a:t>
            </a:r>
            <a:endParaRPr lang="en-US" sz="2400" dirty="0"/>
          </a:p>
          <a:p>
            <a:pPr>
              <a:buNone/>
            </a:pPr>
            <a:r>
              <a:rPr lang="en-IN" sz="2400" b="1" dirty="0"/>
              <a:t> </a:t>
            </a: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066801"/>
            <a:ext cx="8839200" cy="5562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4. Program to determine if a person is eligible to vote or not </a:t>
            </a:r>
          </a:p>
          <a:p>
            <a:pPr>
              <a:buFont typeface="Wingdings" pitchFamily="2" charset="2"/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read -p "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Enter your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age: "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Years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 " $Years " -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20 ];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Then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    echo " You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 not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Vote now "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else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 echo "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You can Vote now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79" name="Slide Number Placeholder 5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EA499C7A-54F3-47E4-B2F2-6352D346724A}" type="slidenum">
              <a:rPr lang="en-US"/>
              <a:pPr/>
              <a:t>38</a:t>
            </a:fld>
            <a:endParaRPr lang="en-US"/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/>
              <a:t>CSCI 330 - The Unix System</a:t>
            </a:r>
          </a:p>
        </p:txBody>
      </p:sp>
    </p:spTree>
    <p:extLst>
      <p:ext uri="{BB962C8B-B14F-4D97-AF65-F5344CB8AC3E}">
        <p14:creationId xmlns:p14="http://schemas.microsoft.com/office/powerpoint/2010/main" val="217080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7772400" cy="4572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400" b="1" dirty="0"/>
              <a:t>5. displays all filenames beginning with a and displays its contents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 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for k in a*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do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echo "file name is $k"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cat $k</a:t>
            </a:r>
            <a:endParaRPr lang="en-US" sz="2400" dirty="0"/>
          </a:p>
          <a:p>
            <a:pPr>
              <a:buNone/>
            </a:pPr>
            <a:r>
              <a:rPr lang="en-IN" sz="2400" dirty="0"/>
              <a:t>done</a:t>
            </a: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IN" b="1" dirty="0"/>
              <a:t>6 </a:t>
            </a:r>
            <a:r>
              <a:rPr lang="en-IN" b="1" dirty="0" smtClean="0"/>
              <a:t>factorial </a:t>
            </a:r>
            <a:r>
              <a:rPr lang="en-IN" b="1" dirty="0"/>
              <a:t>of a number</a:t>
            </a:r>
            <a:endParaRPr lang="en-US" dirty="0"/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echo </a:t>
            </a:r>
            <a:r>
              <a:rPr lang="en-IN" dirty="0"/>
              <a:t>" enter the number "</a:t>
            </a:r>
            <a:endParaRPr lang="en-US" dirty="0"/>
          </a:p>
          <a:p>
            <a:pPr>
              <a:buNone/>
            </a:pPr>
            <a:r>
              <a:rPr lang="en-IN" dirty="0"/>
              <a:t>read n</a:t>
            </a:r>
            <a:endParaRPr lang="en-US" dirty="0"/>
          </a:p>
          <a:p>
            <a:pPr>
              <a:buNone/>
            </a:pPr>
            <a:r>
              <a:rPr lang="en-IN" dirty="0"/>
              <a:t>f=1</a:t>
            </a:r>
            <a:endParaRPr lang="en-US" dirty="0"/>
          </a:p>
          <a:p>
            <a:pPr>
              <a:buNone/>
            </a:pPr>
            <a:r>
              <a:rPr lang="en-IN" dirty="0"/>
              <a:t>for((</a:t>
            </a:r>
            <a:r>
              <a:rPr lang="en-IN" dirty="0" err="1"/>
              <a:t>i</a:t>
            </a:r>
            <a:r>
              <a:rPr lang="en-IN" dirty="0"/>
              <a:t>=1; </a:t>
            </a:r>
            <a:r>
              <a:rPr lang="en-IN" dirty="0" err="1"/>
              <a:t>i</a:t>
            </a:r>
            <a:r>
              <a:rPr lang="en-IN" dirty="0"/>
              <a:t>&lt;=n; </a:t>
            </a:r>
            <a:r>
              <a:rPr lang="en-IN" dirty="0" err="1"/>
              <a:t>i</a:t>
            </a:r>
            <a:r>
              <a:rPr lang="en-IN" dirty="0"/>
              <a:t>++))</a:t>
            </a:r>
            <a:endParaRPr lang="en-US" dirty="0"/>
          </a:p>
          <a:p>
            <a:pPr>
              <a:buNone/>
            </a:pPr>
            <a:r>
              <a:rPr lang="en-IN" dirty="0"/>
              <a:t>do</a:t>
            </a:r>
            <a:endParaRPr lang="en-US" dirty="0"/>
          </a:p>
          <a:p>
            <a:pPr>
              <a:buNone/>
            </a:pPr>
            <a:r>
              <a:rPr lang="en-IN" dirty="0" smtClean="0"/>
              <a:t>	f</a:t>
            </a:r>
            <a:r>
              <a:rPr lang="en-IN" dirty="0"/>
              <a:t>=$((f * i))</a:t>
            </a:r>
            <a:endParaRPr lang="en-US" dirty="0"/>
          </a:p>
          <a:p>
            <a:pPr>
              <a:buNone/>
            </a:pPr>
            <a:r>
              <a:rPr lang="en-IN" dirty="0"/>
              <a:t>done</a:t>
            </a:r>
            <a:endParaRPr lang="en-US" dirty="0"/>
          </a:p>
          <a:p>
            <a:pPr>
              <a:buNone/>
            </a:pPr>
            <a:r>
              <a:rPr lang="en-IN" dirty="0"/>
              <a:t>echo "Factorial of " $n " is " $f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762000"/>
            <a:ext cx="8686800" cy="5867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7. Program to check validity of a user with a function defined in the code </a:t>
            </a:r>
            <a:r>
              <a:rPr lang="en-US" dirty="0" smtClean="0"/>
              <a:t>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function </a:t>
            </a:r>
            <a:r>
              <a:rPr lang="en-IN" dirty="0"/>
              <a:t>entry</a:t>
            </a:r>
            <a:r>
              <a:rPr lang="en-IN" dirty="0" smtClean="0"/>
              <a:t>()</a:t>
            </a:r>
          </a:p>
          <a:p>
            <a:pPr marL="0" indent="0">
              <a:buNone/>
            </a:pPr>
            <a:r>
              <a:rPr lang="en-IN" dirty="0" smtClean="0"/>
              <a:t>{ </a:t>
            </a:r>
          </a:p>
          <a:p>
            <a:pPr marL="0" indent="0">
              <a:buNone/>
            </a:pPr>
            <a:r>
              <a:rPr lang="en-IN" dirty="0" smtClean="0"/>
              <a:t>   </a:t>
            </a:r>
            <a:r>
              <a:rPr lang="en-IN" dirty="0"/>
              <a:t>echo " Enter Username" 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read username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</a:t>
            </a:r>
            <a:r>
              <a:rPr lang="en-IN" dirty="0"/>
              <a:t>echo "Enter </a:t>
            </a:r>
            <a:r>
              <a:rPr lang="en-IN" dirty="0" smtClean="0"/>
              <a:t>password“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read password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r>
              <a:rPr lang="en-IN" dirty="0"/>
              <a:t>e</a:t>
            </a:r>
            <a:r>
              <a:rPr lang="en-IN" dirty="0" smtClean="0"/>
              <a:t>ntry </a:t>
            </a:r>
          </a:p>
          <a:p>
            <a:pPr marL="0" indent="0">
              <a:buNone/>
            </a:pPr>
            <a:r>
              <a:rPr lang="en-IN" dirty="0" smtClean="0"/>
              <a:t>if </a:t>
            </a:r>
            <a:r>
              <a:rPr lang="en-IN" dirty="0"/>
              <a:t>[[ ( $username == "admin" &amp;&amp; $password == "secret" ) </a:t>
            </a:r>
            <a:r>
              <a:rPr lang="en-IN" dirty="0" smtClean="0"/>
              <a:t>]];</a:t>
            </a:r>
          </a:p>
          <a:p>
            <a:pPr marL="0" indent="0">
              <a:buNone/>
            </a:pPr>
            <a:r>
              <a:rPr lang="en-IN" dirty="0" smtClean="0"/>
              <a:t>then    </a:t>
            </a:r>
            <a:r>
              <a:rPr lang="en-IN" dirty="0"/>
              <a:t>echo "valid user"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else    </a:t>
            </a:r>
            <a:r>
              <a:rPr lang="en-IN" dirty="0"/>
              <a:t>echo "invalid </a:t>
            </a:r>
            <a:r>
              <a:rPr lang="en-IN" dirty="0" smtClean="0"/>
              <a:t>user“</a:t>
            </a:r>
          </a:p>
          <a:p>
            <a:pPr marL="0" indent="0">
              <a:buNone/>
            </a:pPr>
            <a:r>
              <a:rPr lang="en-IN" dirty="0" smtClean="0"/>
              <a:t>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069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679</TotalTime>
  <Words>1497</Words>
  <Application>Microsoft Office PowerPoint</Application>
  <PresentationFormat>On-screen Show (4:3)</PresentationFormat>
  <Paragraphs>530</Paragraphs>
  <Slides>41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Equity</vt:lpstr>
      <vt:lpstr>Shell Programming</vt:lpstr>
      <vt:lpstr>PowerPoint Presentation</vt:lpstr>
      <vt:lpstr>What is Shell ?</vt:lpstr>
      <vt:lpstr>What is a shell program? </vt:lpstr>
      <vt:lpstr>PowerPoint Presentation</vt:lpstr>
      <vt:lpstr>Bash shell programming</vt:lpstr>
      <vt:lpstr>PowerPoint Presentation</vt:lpstr>
      <vt:lpstr>PowerPoint Presentation</vt:lpstr>
      <vt:lpstr>Taking input from User :</vt:lpstr>
      <vt:lpstr>User input example</vt:lpstr>
      <vt:lpstr>PowerPoint Presentation</vt:lpstr>
      <vt:lpstr>UNIX Commands can be run through shell files </vt:lpstr>
      <vt:lpstr>Output</vt:lpstr>
      <vt:lpstr>PowerPoint Presentation</vt:lpstr>
      <vt:lpstr>bash control structures :</vt:lpstr>
      <vt:lpstr>if statement :</vt:lpstr>
      <vt:lpstr>The if-then-else statement</vt:lpstr>
      <vt:lpstr>The if…else statement</vt:lpstr>
      <vt:lpstr>PowerPoint Presentation</vt:lpstr>
      <vt:lpstr>PowerPoint Presentation</vt:lpstr>
      <vt:lpstr>Relational Operators</vt:lpstr>
      <vt:lpstr>Compound logical expressions :</vt:lpstr>
      <vt:lpstr>If…else</vt:lpstr>
      <vt:lpstr>Example: Using the || Operator</vt:lpstr>
      <vt:lpstr>Example: if..elif... Statement</vt:lpstr>
      <vt:lpstr>While loop :</vt:lpstr>
      <vt:lpstr>PowerPoint Presentation</vt:lpstr>
      <vt:lpstr>PowerPoint Presentation</vt:lpstr>
      <vt:lpstr>PowerPoint Presentation</vt:lpstr>
      <vt:lpstr>For Loop :</vt:lpstr>
      <vt:lpstr>Arrays :</vt:lpstr>
      <vt:lpstr>PowerPoint Presentation</vt:lpstr>
      <vt:lpstr>Functions</vt:lpstr>
      <vt:lpstr>Lab Assignments: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T.S.E.C.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SAKSHI</dc:creator>
  <cp:lastModifiedBy>abc</cp:lastModifiedBy>
  <cp:revision>67</cp:revision>
  <dcterms:created xsi:type="dcterms:W3CDTF">2018-01-20T05:27:42Z</dcterms:created>
  <dcterms:modified xsi:type="dcterms:W3CDTF">2021-02-16T17:12:36Z</dcterms:modified>
</cp:coreProperties>
</file>